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529" r:id="rId5"/>
    <p:sldId id="479" r:id="rId6"/>
    <p:sldId id="548" r:id="rId7"/>
    <p:sldId id="524" r:id="rId8"/>
    <p:sldId id="549" r:id="rId9"/>
    <p:sldId id="483" r:id="rId10"/>
    <p:sldId id="510" r:id="rId11"/>
    <p:sldId id="482" r:id="rId12"/>
    <p:sldId id="539" r:id="rId13"/>
    <p:sldId id="535" r:id="rId14"/>
    <p:sldId id="522" r:id="rId15"/>
    <p:sldId id="550" r:id="rId16"/>
    <p:sldId id="551" r:id="rId17"/>
    <p:sldId id="527" r:id="rId18"/>
    <p:sldId id="543" r:id="rId19"/>
    <p:sldId id="544" r:id="rId20"/>
    <p:sldId id="545" r:id="rId21"/>
    <p:sldId id="546" r:id="rId22"/>
    <p:sldId id="547" r:id="rId23"/>
    <p:sldId id="485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7B6831E-A4AB-4CF6-A9A0-4308F86E1641}">
          <p14:sldIdLst>
            <p14:sldId id="257"/>
            <p14:sldId id="529"/>
            <p14:sldId id="479"/>
            <p14:sldId id="548"/>
            <p14:sldId id="524"/>
            <p14:sldId id="549"/>
            <p14:sldId id="483"/>
            <p14:sldId id="510"/>
            <p14:sldId id="482"/>
            <p14:sldId id="539"/>
            <p14:sldId id="535"/>
            <p14:sldId id="522"/>
            <p14:sldId id="550"/>
            <p14:sldId id="551"/>
            <p14:sldId id="527"/>
            <p14:sldId id="543"/>
            <p14:sldId id="544"/>
            <p14:sldId id="545"/>
            <p14:sldId id="546"/>
            <p14:sldId id="547"/>
            <p14:sldId id="4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CCFF"/>
    <a:srgbClr val="CCECFF"/>
    <a:srgbClr val="99CCFF"/>
    <a:srgbClr val="FFFFCC"/>
    <a:srgbClr val="325B7F"/>
    <a:srgbClr val="7F7F7F"/>
    <a:srgbClr val="0E4A80"/>
    <a:srgbClr val="A9B9C7"/>
    <a:srgbClr val="7992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20" y="136"/>
      </p:cViewPr>
      <p:guideLst>
        <p:guide orient="horz" pos="214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38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7106C-D5AE-420C-BEF8-088D4D6B83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各位老师好，我汇报的大创项目是《FastGuard——面向行车场景的视觉风险提示系统》。一句话概括：用一路前视摄像头，把检测、轨迹和风险判断串成可观察、可解释的提示闭环，并且在一台 i7-11800H 的普通笔记本上完成了 INT8 量化与端到端性能实测。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汇报分六个部分：项目背景、可行性分析、项目创新、项目架构、核心算法，最后是性能测试与结果验证。第六部分是这次新增的实测内容，包括 INT8 量化、推理速度优化、打包验证，以及测试中暴露出来的缺陷修复。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先从项目背景说起。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首先来看项目背景。随着深度学习与计算机视觉技术的快速发展，体育视频的智能化分析已成为研究热点。国内外在足球视频分析领域已取得显著进展：例如</a:t>
            </a:r>
            <a:r>
              <a:rPr lang="en-US" altLang="zh-CN"/>
              <a:t>SoccerNet</a:t>
            </a:r>
            <a:r>
              <a:rPr lang="zh-CN" altLang="en-US"/>
              <a:t>系列数据集推动了多视角犯规识别与球员轨迹跟踪研究；在技术层面，</a:t>
            </a:r>
            <a:r>
              <a:rPr lang="en-US" altLang="zh-CN"/>
              <a:t>YOLOv8</a:t>
            </a:r>
            <a:r>
              <a:rPr lang="zh-CN" altLang="en-US"/>
              <a:t>与</a:t>
            </a:r>
            <a:r>
              <a:rPr lang="en-US" altLang="zh-CN"/>
              <a:t>RNN</a:t>
            </a:r>
            <a:r>
              <a:rPr lang="zh-CN" altLang="en-US"/>
              <a:t>的融合模型在动作识别上达到了很高准确率，细粒度骨架动作识别也达到了91.2%的精度。</a:t>
            </a:r>
            <a:endParaRPr lang="zh-CN" altLang="en-US"/>
          </a:p>
          <a:p>
            <a:r>
              <a:rPr lang="zh-CN" altLang="en-US"/>
              <a:t>然而，当前研究仍面临三个核心挑战：第一，足球动作中存在大量细粒度差异，模型难以精准区分；第二，实际应用场景对实时性要求极高；第三，视觉、时序、语义等多模态信息的有效融合仍需突破。正是基于这些痛点，我们提出了本项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第二部分说明可行性：技术、经济、应用三个角度分别成立的条件。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项目可行性高。理论上，依托深度学习等成熟体系结合足球专业知识，支撑算法设计与模型构建；方法上，遵循标准研究范式，保证严谨与可复现；数据上，采用公开与自建数据集，经清洗校验，保障准确与覆盖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第三部分讲项目的创新点。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创新点有三条：一是前向 TTC 与侧向 BSD/TTL 的双链路组织；二是把几何线索和轨迹趋势结合起来判断，而不是只看单帧检测；三是工程侧的量化与帧级节流——这一点在 CPU 端特别关键，后面有实测。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第四部分看系统架构。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这是从输入到留痕的完整闭环：读取与预处理、检测与轨迹、前向与侧向两路风险、界面与声光告警、最后落到 SQLite 事件和日志里，方便答辩现场回看。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分层来看更清楚：感知层负责看，风险层负责判断，交互与记录层负责提示和留痕。桌面端本地必需，云端账户服务独立可选。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第五部分是核心算法，也是这次缺陷修复影响最大的部分。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下面是本次汇报的重点：性能测试与结果验证。全部数据都在 i7-11800H 的 CPU 上测得，视频源是 OBS 虚拟摄像头的 640x480 实时画面。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优化分三步：先把输入尺寸从 640 降到 320，再把线程锁定在 8 个物理核，最后导出 OpenVINO INT8 模型。端到端帧率从 13.96 提升到 29.89 FPS，已经触到视频源 30 FPS 的上限；单帧推理从 84.8 毫秒降到 19.4 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量化一定会掉精度，关键是掉在哪里。在 COCO128 上，320 尺寸的 mAP50-95 从 0.380 降到 0.367，损失 3.4%；但行人、摩托车、公交车这些安全关键类别的召回率持平甚至提升，也就是不会漏掉危险目标。另一个发现是 INT8 在 512 尺寸下精度和速度同时优于原来的 FP32 320，这是最有落地价值的结论。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长时运行 15 分钟、26724 帧，帧率没有出现热节流，内存漂移 25.3 MB 而且增速递减，属于分配器预热后的收敛，不是泄漏。打包产物 915 MB，bundle 里的 OpenVINO 完整可用，INT8 模型确实生效，不是静默回退。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这一页是本次测试最有价值的部分：四个真实缺陷。最隐蔽的是相机帧序号恒为 0——摄像头不返回帧号，导致所有基于取模的跳帧节流失效，每帧执行两次推理，这正是打包后只有 16 帧的根因；修复后帧率回到 20.8，帧延迟从 64.6 降到 42 毫秒。另外还有单位混用、静止目标误报、IPM 符号错误，以及打包环境缺 OpenVINO 导致的静默回退。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左边是打包 exe 的实机运行画面、右边是管理员登录界面——这两张截图会由我们自己补进去，答辩前把占位框替换成最新截图即可。要讲的三点：三路视频与右侧指标卡说明界面确实在跑实时推理；底部显示实际加载的模型名是 yolo11n_int8_openvino_model，说明 INT8 真的生效；登录用管理员 admin，鉴权走云端账户服务，离线时会退化为本地管理员模式，保证演示不中断。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总结一下：FastGuard 把视觉检测、轨迹和风险启发式组织成一个可演示的闭环，并且在 CPU 上做到了 29.9 FPS 的实时性和 3.4% 的量化精度损失，安全关键类别召回不降。下一步工作是补充相机标定、扩大标注集评估，并把这套测试流程沉淀成回归基线。我的汇报到此结束，谢谢各位老师，欢迎提问。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391C1-445D-4244-8928-569776DA91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部分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1711" y="-1748255"/>
            <a:ext cx="6858001" cy="1035450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104975" y="-2"/>
            <a:ext cx="1942468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90500" y="10668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项目背景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0500" y="2057400"/>
            <a:ext cx="149860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0500" y="50292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算法与文献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190500" y="40386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90500" y="3048000"/>
            <a:ext cx="1498600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90500" y="6019800"/>
            <a:ext cx="1498600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演示与总结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199178" y="18034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199178" y="37846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199178" y="47752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>
            <a:off x="199178" y="57658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99178" y="27940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 userDrawn="1"/>
        </p:nvSpPr>
        <p:spPr>
          <a:xfrm>
            <a:off x="1973876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部分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1711" y="-1748255"/>
            <a:ext cx="6858001" cy="1035450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22" name="矩形: 圆角 21"/>
          <p:cNvSpPr/>
          <p:nvPr userDrawn="1"/>
        </p:nvSpPr>
        <p:spPr>
          <a:xfrm>
            <a:off x="1973876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/>
          <p:cNvSpPr txBox="1"/>
          <p:nvPr userDrawn="1"/>
        </p:nvSpPr>
        <p:spPr>
          <a:xfrm>
            <a:off x="190500" y="10668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项目背景</a:t>
            </a:r>
            <a:endParaRPr lang="zh-CN" altLang="en-US" sz="1400" b="0" kern="12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90500" y="2057400"/>
            <a:ext cx="149860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可行性分析</a:t>
            </a:r>
            <a:endParaRPr lang="zh-CN" altLang="en-US" sz="1800" b="1" kern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190500" y="3048000"/>
            <a:ext cx="1498600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199178" y="18034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99178" y="37846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99178" y="47752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199178" y="57658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/>
        </p:nvCxnSpPr>
        <p:spPr>
          <a:xfrm>
            <a:off x="199178" y="27940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 userDrawn="1"/>
        </p:nvSpPr>
        <p:spPr>
          <a:xfrm>
            <a:off x="190500" y="40386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90500" y="50292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算法与文献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0500" y="6019800"/>
            <a:ext cx="1498600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演示与总结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第三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5746" y="-1748254"/>
            <a:ext cx="6858001" cy="10354508"/>
          </a:xfrm>
          <a:prstGeom prst="rect">
            <a:avLst/>
          </a:prstGeom>
        </p:spPr>
      </p:pic>
      <p:sp>
        <p:nvSpPr>
          <p:cNvPr id="6" name="矩形: 圆角 5"/>
          <p:cNvSpPr/>
          <p:nvPr userDrawn="1"/>
        </p:nvSpPr>
        <p:spPr>
          <a:xfrm>
            <a:off x="1973876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38" name="文本框 37"/>
          <p:cNvSpPr txBox="1"/>
          <p:nvPr userDrawn="1"/>
        </p:nvSpPr>
        <p:spPr>
          <a:xfrm>
            <a:off x="375842" y="2711621"/>
            <a:ext cx="1199854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成员简介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399156" y="1896189"/>
            <a:ext cx="117654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 userDrawn="1"/>
        </p:nvSpPr>
        <p:spPr>
          <a:xfrm>
            <a:off x="468615" y="3563822"/>
            <a:ext cx="959513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493163" y="1088132"/>
            <a:ext cx="910416" cy="3299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项目背景</a:t>
            </a:r>
            <a:endParaRPr lang="zh-CN" altLang="en-US" sz="1400" b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99178" y="1661604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>
            <a:off x="199178" y="414311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 userDrawn="1"/>
        </p:nvCxnSpPr>
        <p:spPr>
          <a:xfrm>
            <a:off x="199178" y="3329237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 userDrawn="1"/>
        </p:nvCxnSpPr>
        <p:spPr>
          <a:xfrm>
            <a:off x="199178" y="495699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/>
        </p:nvCxnSpPr>
        <p:spPr>
          <a:xfrm>
            <a:off x="199178" y="577087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 userDrawn="1"/>
        </p:nvCxnSpPr>
        <p:spPr>
          <a:xfrm>
            <a:off x="199178" y="2530163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 userDrawn="1"/>
        </p:nvSpPr>
        <p:spPr>
          <a:xfrm>
            <a:off x="462965" y="6008159"/>
            <a:ext cx="858429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实机演示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462965" y="5176778"/>
            <a:ext cx="97695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核心算法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85213" y="4377704"/>
            <a:ext cx="144018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四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5746" y="-1748254"/>
            <a:ext cx="6858001" cy="10354508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967820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38" name="文本框 37"/>
          <p:cNvSpPr txBox="1"/>
          <p:nvPr userDrawn="1"/>
        </p:nvSpPr>
        <p:spPr>
          <a:xfrm>
            <a:off x="190500" y="30480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190500" y="2057400"/>
            <a:ext cx="149860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 userDrawn="1"/>
        </p:nvSpPr>
        <p:spPr>
          <a:xfrm>
            <a:off x="190500" y="1066800"/>
            <a:ext cx="1498600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项目背景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99178" y="18034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>
            <a:off x="199178" y="37846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 userDrawn="1"/>
        </p:nvCxnSpPr>
        <p:spPr>
          <a:xfrm>
            <a:off x="199178" y="47752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/>
        </p:nvCxnSpPr>
        <p:spPr>
          <a:xfrm>
            <a:off x="199178" y="57658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 userDrawn="1"/>
        </p:nvCxnSpPr>
        <p:spPr>
          <a:xfrm>
            <a:off x="199178" y="27940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190500" y="40386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0500" y="50292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算法与文献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0500" y="6019800"/>
            <a:ext cx="1498600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演示与总结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五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5746" y="-1748254"/>
            <a:ext cx="6858001" cy="10354508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973876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38" name="文本框 37"/>
          <p:cNvSpPr txBox="1"/>
          <p:nvPr userDrawn="1"/>
        </p:nvSpPr>
        <p:spPr>
          <a:xfrm>
            <a:off x="190500" y="40386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 userDrawn="1"/>
        </p:nvSpPr>
        <p:spPr>
          <a:xfrm>
            <a:off x="190500" y="3048000"/>
            <a:ext cx="1498600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99178" y="18034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>
            <a:off x="199178" y="37846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 userDrawn="1"/>
        </p:nvCxnSpPr>
        <p:spPr>
          <a:xfrm>
            <a:off x="199178" y="47752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/>
        </p:nvCxnSpPr>
        <p:spPr>
          <a:xfrm>
            <a:off x="199178" y="57658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 userDrawn="1"/>
        </p:nvCxnSpPr>
        <p:spPr>
          <a:xfrm>
            <a:off x="199178" y="27940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 userDrawn="1"/>
        </p:nvSpPr>
        <p:spPr>
          <a:xfrm>
            <a:off x="190500" y="10668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项目背景</a:t>
            </a:r>
            <a:endParaRPr lang="zh-CN" altLang="en-US" sz="1400" b="0" kern="12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90500" y="2057400"/>
            <a:ext cx="149860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0500" y="50292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算法与文献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0500" y="6019800"/>
            <a:ext cx="1498600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演示与总结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六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5746" y="-1748254"/>
            <a:ext cx="6858001" cy="10354508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990067" y="191860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25" name="文本框 24"/>
          <p:cNvSpPr txBox="1"/>
          <p:nvPr userDrawn="1"/>
        </p:nvSpPr>
        <p:spPr>
          <a:xfrm>
            <a:off x="190500" y="50292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算法与文献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190500" y="6019800"/>
            <a:ext cx="1498600" cy="344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演示与总结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199178" y="18034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99178" y="37846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99178" y="47752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199178" y="57658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/>
        </p:nvCxnSpPr>
        <p:spPr>
          <a:xfrm>
            <a:off x="199178" y="2794000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 userDrawn="1"/>
        </p:nvSpPr>
        <p:spPr>
          <a:xfrm>
            <a:off x="190500" y="1066800"/>
            <a:ext cx="1498600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项目背景</a:t>
            </a:r>
            <a:endParaRPr lang="zh-CN" altLang="en-US" sz="1400" b="0" kern="12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90500" y="2057400"/>
            <a:ext cx="1498600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0500" y="3048000"/>
            <a:ext cx="1498600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0500" y="4038600"/>
            <a:ext cx="14986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七部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1833948" y="0"/>
            <a:ext cx="103580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3585746" y="-1748254"/>
            <a:ext cx="6858001" cy="10354508"/>
          </a:xfrm>
          <a:prstGeom prst="rect">
            <a:avLst/>
          </a:prstGeom>
        </p:spPr>
      </p:pic>
      <p:sp>
        <p:nvSpPr>
          <p:cNvPr id="3" name="矩形: 圆角 2"/>
          <p:cNvSpPr/>
          <p:nvPr userDrawn="1"/>
        </p:nvSpPr>
        <p:spPr>
          <a:xfrm>
            <a:off x="1973876" y="207888"/>
            <a:ext cx="10050094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837494" cy="6858000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6" y="274130"/>
            <a:ext cx="1637527" cy="308615"/>
          </a:xfrm>
          <a:prstGeom prst="rect">
            <a:avLst/>
          </a:prstGeom>
        </p:spPr>
      </p:pic>
      <p:sp>
        <p:nvSpPr>
          <p:cNvPr id="25" name="文本框 24"/>
          <p:cNvSpPr txBox="1"/>
          <p:nvPr userDrawn="1"/>
        </p:nvSpPr>
        <p:spPr>
          <a:xfrm>
            <a:off x="351009" y="5914014"/>
            <a:ext cx="1135476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实机展示</a:t>
            </a:r>
            <a:endParaRPr lang="zh-CN" altLang="en-US" sz="1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387351" y="1896189"/>
            <a:ext cx="1122039" cy="399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可行性分析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468615" y="3563822"/>
            <a:ext cx="959513" cy="3447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项目创新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493163" y="2764748"/>
            <a:ext cx="910416" cy="3299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成员简介</a:t>
            </a:r>
            <a:endParaRPr lang="zh-CN" altLang="en-US" sz="1400" b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199178" y="1661604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99178" y="414311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199178" y="3329237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99178" y="495699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>
            <a:off x="199178" y="5770879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/>
        </p:nvCxnSpPr>
        <p:spPr>
          <a:xfrm>
            <a:off x="199178" y="2530163"/>
            <a:ext cx="14983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 userDrawn="1"/>
        </p:nvSpPr>
        <p:spPr>
          <a:xfrm>
            <a:off x="451547" y="4377704"/>
            <a:ext cx="93440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项目架构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447962" y="5191584"/>
            <a:ext cx="934480" cy="344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核心算法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493163" y="1083650"/>
            <a:ext cx="1199854" cy="4361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项目背景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成果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2619290" y="-2714709"/>
            <a:ext cx="6858001" cy="1228741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矩形: 圆角 21"/>
          <p:cNvSpPr/>
          <p:nvPr userDrawn="1"/>
        </p:nvSpPr>
        <p:spPr>
          <a:xfrm>
            <a:off x="214685" y="207888"/>
            <a:ext cx="11704320" cy="6474279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0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4="http://schemas.microsoft.com/office/powerpoint/2010/main" Requires="p14">
      <p:transition spd="slow" advClick="0" advTm="0">
        <p14:pan dir="u"/>
      </p:transition>
    </mc:Choice>
    <mc:Fallback>
      <p:transition spd="slow" advClick="0" advTm="0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.xml"/><Relationship Id="rId3" Type="http://schemas.openxmlformats.org/officeDocument/2006/relationships/image" Target="../media/image7.png"/><Relationship Id="rId2" Type="http://schemas.openxmlformats.org/officeDocument/2006/relationships/tags" Target="../tags/tag14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image" Target="../media/image8.png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6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7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35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7d195523061f1c0e9b3ffe7e44df0ff734887e5df9cafe85410467C7D4BF498388736C4A47BDD8DF8E410732F89EB20E3DD26C0AE63ED6FC8FD81476FCC37DE72C787945F58CBA99AD5DEF472EB0F4004B9DEB06EDEFF0457AAB0D7D50FDB571AB48D00B5E53013B217544737FF837E801B842BD4108D639F076B8BBFF9559AFE01B1AFFDD0482057A1D2D39CF774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189" y="832423"/>
            <a:ext cx="4865621" cy="1068750"/>
          </a:xfrm>
          <a:prstGeom prst="rect">
            <a:avLst/>
          </a:prstGeom>
        </p:spPr>
      </p:pic>
      <p:sp>
        <p:nvSpPr>
          <p:cNvPr id="3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177241" y="2177874"/>
            <a:ext cx="11827994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540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6000" dirty="0">
                <a:solidFill>
                  <a:srgbClr val="3B5F80"/>
                </a:solidFill>
              </a:rPr>
              <a:t>FastGuard-</a:t>
            </a:r>
            <a:r>
              <a:rPr lang="zh-CN" altLang="en-US" sz="6000" dirty="0">
                <a:solidFill>
                  <a:srgbClr val="3B5F80"/>
                </a:solidFill>
              </a:rPr>
              <a:t>车辆碰撞预警系统</a:t>
            </a:r>
            <a:endParaRPr lang="zh-CN" altLang="en-US" sz="6000" dirty="0">
              <a:solidFill>
                <a:srgbClr val="3B5F80"/>
              </a:solidFill>
            </a:endParaRPr>
          </a:p>
        </p:txBody>
      </p:sp>
      <p:sp>
        <p:nvSpPr>
          <p:cNvPr id="9" name="PA_文本框 2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3"/>
            </p:custDataLst>
          </p:nvPr>
        </p:nvSpPr>
        <p:spPr>
          <a:xfrm>
            <a:off x="4302740" y="4585155"/>
            <a:ext cx="3586519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2423233" y="3511466"/>
            <a:ext cx="7336011" cy="743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dirty="0">
                <a:solidFill>
                  <a:srgbClr val="7F7F7F"/>
                </a:solidFill>
              </a:rPr>
              <a:t>A Collision Warning System</a:t>
            </a:r>
            <a:endParaRPr lang="en-US" altLang="zh-CN" sz="2800" dirty="0">
              <a:solidFill>
                <a:srgbClr val="7F7F7F"/>
              </a:solidFill>
              <a:latin typeface="+mj-ea"/>
              <a:ea typeface="+mj-ea"/>
              <a:sym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4862">
        <p14:doors dir="vert"/>
      </p:transition>
    </mc:Choice>
    <mc:Fallback>
      <p:transition spd="slow" advTm="1486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64189" y="622441"/>
            <a:ext cx="1528413" cy="1528413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solidFill>
              <a:srgbClr val="0E4A80"/>
            </a:solidFill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865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" name="TextBox 145"/>
            <p:cNvSpPr txBox="1"/>
            <p:nvPr/>
          </p:nvSpPr>
          <p:spPr>
            <a:xfrm>
              <a:off x="1679041" y="396413"/>
              <a:ext cx="1189310" cy="563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36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Box 146"/>
            <p:cNvSpPr txBox="1"/>
            <p:nvPr/>
          </p:nvSpPr>
          <p:spPr>
            <a:xfrm>
              <a:off x="1638153" y="937949"/>
              <a:ext cx="126380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1465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146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30"/>
          <p:cNvSpPr>
            <a:spLocks noChangeArrowheads="1"/>
          </p:cNvSpPr>
          <p:nvPr/>
        </p:nvSpPr>
        <p:spPr bwMode="auto">
          <a:xfrm>
            <a:off x="2772545" y="2681548"/>
            <a:ext cx="2965513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项目背景</a:t>
            </a:r>
            <a:endParaRPr lang="zh-CN" altLang="en-US" sz="28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矩形 68"/>
          <p:cNvSpPr>
            <a:spLocks noChangeArrowheads="1"/>
          </p:cNvSpPr>
          <p:nvPr/>
        </p:nvSpPr>
        <p:spPr bwMode="auto">
          <a:xfrm>
            <a:off x="2772545" y="4368800"/>
            <a:ext cx="2965513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项目创新</a:t>
            </a:r>
            <a:endParaRPr lang="zh-CN" altLang="en-US" sz="28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114402" y="2719884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2114402" y="3613659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1" name="矩形 30"/>
          <p:cNvSpPr>
            <a:spLocks noChangeArrowheads="1"/>
          </p:cNvSpPr>
          <p:nvPr/>
        </p:nvSpPr>
        <p:spPr bwMode="auto">
          <a:xfrm>
            <a:off x="7119458" y="2679700"/>
            <a:ext cx="3119078" cy="47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项目架构</a:t>
            </a:r>
            <a:endParaRPr lang="zh-CN" altLang="en-US" sz="23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2" name="矩形 68"/>
          <p:cNvSpPr>
            <a:spLocks noChangeArrowheads="1"/>
          </p:cNvSpPr>
          <p:nvPr/>
        </p:nvSpPr>
        <p:spPr bwMode="auto">
          <a:xfrm>
            <a:off x="7119458" y="3517900"/>
            <a:ext cx="2965513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核心算法</a:t>
            </a:r>
            <a:endParaRPr lang="zh-CN" altLang="en-US" sz="28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2114402" y="4483770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4" name="椭圆 43"/>
          <p:cNvSpPr/>
          <p:nvPr/>
        </p:nvSpPr>
        <p:spPr>
          <a:xfrm>
            <a:off x="6332917" y="2717800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6" name="矩形 68"/>
          <p:cNvSpPr>
            <a:spLocks noChangeArrowheads="1"/>
          </p:cNvSpPr>
          <p:nvPr/>
        </p:nvSpPr>
        <p:spPr bwMode="auto">
          <a:xfrm>
            <a:off x="2772545" y="3523418"/>
            <a:ext cx="3560372" cy="55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可行性分析</a:t>
            </a:r>
            <a:endParaRPr lang="zh-CN" altLang="en-US" sz="28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6332917" y="3619500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en-US" altLang="zh-CN" dirty="0"/>
          </a:p>
        </p:txBody>
      </p:sp>
      <p:sp>
        <p:nvSpPr>
          <p:cNvPr id="48" name="椭圆 47"/>
          <p:cNvSpPr/>
          <p:nvPr/>
        </p:nvSpPr>
        <p:spPr>
          <a:xfrm>
            <a:off x="6332917" y="4483100"/>
            <a:ext cx="454267" cy="430885"/>
          </a:xfrm>
          <a:prstGeom prst="ellipse">
            <a:avLst/>
          </a:prstGeom>
          <a:solidFill>
            <a:srgbClr val="325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9" name="矩形 30"/>
          <p:cNvSpPr>
            <a:spLocks noChangeArrowheads="1"/>
          </p:cNvSpPr>
          <p:nvPr/>
        </p:nvSpPr>
        <p:spPr bwMode="auto">
          <a:xfrm>
            <a:off x="7119458" y="4368800"/>
            <a:ext cx="2965513" cy="47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性能测试与验证</a:t>
            </a:r>
            <a:endParaRPr lang="zh-CN" altLang="en-US" sz="2300" b="1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4512">
        <p14:pan dir="u"/>
      </p:transition>
    </mc:Choice>
    <mc:Fallback>
      <p:transition spd="slow" advTm="4512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94146" y="1632729"/>
            <a:ext cx="3584652" cy="3592542"/>
            <a:chOff x="3437020" y="1033173"/>
            <a:chExt cx="863676" cy="865577"/>
          </a:xfrm>
          <a:solidFill>
            <a:srgbClr val="0E4A80"/>
          </a:solidFill>
        </p:grpSpPr>
        <p:sp>
          <p:nvSpPr>
            <p:cNvPr id="4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grpFill/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  <a:grpFill/>
          </p:spPr>
        </p:pic>
      </p:grpSp>
      <p:sp>
        <p:nvSpPr>
          <p:cNvPr id="6" name="文本框 5"/>
          <p:cNvSpPr txBox="1"/>
          <p:nvPr/>
        </p:nvSpPr>
        <p:spPr>
          <a:xfrm>
            <a:off x="6090652" y="2022122"/>
            <a:ext cx="5932714" cy="322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395E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5400" dirty="0">
              <a:solidFill>
                <a:srgbClr val="395E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395E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5400" dirty="0">
              <a:solidFill>
                <a:srgbClr val="395E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lang="zh-CN" altLang="en-US" sz="5400" dirty="0">
              <a:solidFill>
                <a:srgbClr val="395E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283">
        <p14:pan dir="u"/>
      </p:transition>
    </mc:Choice>
    <mc:Fallback>
      <p:transition spd="slow" advTm="128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30"/>
          <p:cNvSpPr>
            <a:spLocks noChangeArrowheads="1"/>
          </p:cNvSpPr>
          <p:nvPr/>
        </p:nvSpPr>
        <p:spPr bwMode="auto">
          <a:xfrm>
            <a:off x="2719844" y="336525"/>
            <a:ext cx="1653103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项目背景</a:t>
            </a:r>
            <a:endParaRPr lang="zh-CN" altLang="en-US" sz="2400" dirty="0">
              <a:solidFill>
                <a:srgbClr val="325B7F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25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2" name="矩形: 对角圆角 1"/>
          <p:cNvSpPr/>
          <p:nvPr/>
        </p:nvSpPr>
        <p:spPr>
          <a:xfrm flipH="1">
            <a:off x="2236470" y="1311910"/>
            <a:ext cx="5066030" cy="2630170"/>
          </a:xfrm>
          <a:prstGeom prst="round2DiagRect">
            <a:avLst/>
          </a:prstGeom>
          <a:solidFill>
            <a:srgbClr val="E5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470370" y="150106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CN" altLang="en-US" sz="2200" b="1" dirty="0">
                <a:solidFill>
                  <a:srgbClr val="335C80"/>
                </a:solidFill>
                <a:latin typeface="+mn-ea"/>
              </a:rPr>
              <a:t>交通安全现状</a:t>
            </a:r>
            <a:endParaRPr lang="zh-CN" altLang="en-US" sz="2200" b="1" dirty="0">
              <a:solidFill>
                <a:srgbClr val="335C80"/>
              </a:solidFill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43785" y="1907540"/>
            <a:ext cx="4713605" cy="1899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zh-CN" altLang="en-US" sz="1600" dirty="0">
                <a:latin typeface="+mn-ea"/>
              </a:rPr>
              <a:t>随着机动车保有量持续增长，道路交通安全问题日益突出。</a:t>
            </a:r>
            <a:endParaRPr lang="zh-CN" altLang="en-US" sz="1600" dirty="0">
              <a:latin typeface="+mn-ea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zh-CN" altLang="en-US" sz="1600" dirty="0">
                <a:latin typeface="+mn-ea"/>
              </a:rPr>
              <a:t>驾驶员视野盲区、反应不及时以及复杂路况判断失误，容易导致前向追尾、侧向碰撞及“开门杀”等事故发生，对行车安全造成较大威胁。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" name="矩形: 对角圆角 4"/>
          <p:cNvSpPr/>
          <p:nvPr/>
        </p:nvSpPr>
        <p:spPr>
          <a:xfrm flipH="1">
            <a:off x="7442835" y="1311910"/>
            <a:ext cx="4380865" cy="2629535"/>
          </a:xfrm>
          <a:prstGeom prst="round2DiagRect">
            <a:avLst/>
          </a:prstGeom>
          <a:solidFill>
            <a:srgbClr val="E5E9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04789" y="150142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2750"/>
              </a:lnSpc>
            </a:pPr>
            <a:r>
              <a:rPr lang="zh-CN" altLang="en-US" sz="2200" b="1" dirty="0">
                <a:solidFill>
                  <a:srgbClr val="335C80"/>
                </a:solidFill>
                <a:latin typeface="+mn-ea"/>
              </a:rPr>
              <a:t>传统方案存在的问题</a:t>
            </a:r>
            <a:endParaRPr lang="zh-CN" altLang="en-US" sz="2200" b="1" dirty="0">
              <a:solidFill>
                <a:srgbClr val="335C80"/>
              </a:solidFill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13015" y="1907540"/>
            <a:ext cx="3948430" cy="18992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zh-CN" altLang="en-US" sz="1600" dirty="0">
                <a:latin typeface="+mn-ea"/>
              </a:rPr>
              <a:t>现有碰撞预警系统大多依赖毫米波雷达或专用摄像头，硬件成本较高，且多数系统仅针对前向或后向单一场景进行预警，对侧向盲区、行人及非机动车等复杂交通目标的适应能力有限。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236470" y="4344035"/>
            <a:ext cx="9587230" cy="19538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83" y="4604879"/>
            <a:ext cx="283488" cy="2268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60345" y="4564380"/>
            <a:ext cx="8850630" cy="1588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1600" dirty="0">
                <a:latin typeface="+mn-ea"/>
              </a:rPr>
              <a:t>FastGuard </a:t>
            </a:r>
            <a:r>
              <a:rPr lang="zh-CN" altLang="en-US" sz="1600" dirty="0">
                <a:latin typeface="+mn-ea"/>
              </a:rPr>
              <a:t>用普通摄像头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视频作输入，形成前向</a:t>
            </a:r>
            <a:r>
              <a:rPr lang="en-US" altLang="zh-CN" sz="1600" dirty="0">
                <a:latin typeface="+mn-ea"/>
              </a:rPr>
              <a:t> TTC </a:t>
            </a:r>
            <a:r>
              <a:rPr lang="zh-CN" altLang="en-US" sz="1600" dirty="0">
                <a:latin typeface="+mn-ea"/>
              </a:rPr>
              <a:t>与侧向</a:t>
            </a:r>
            <a:r>
              <a:rPr lang="en-US" altLang="zh-CN" sz="1600" dirty="0">
                <a:latin typeface="+mn-ea"/>
              </a:rPr>
              <a:t> BSD/TTL </a:t>
            </a:r>
            <a:r>
              <a:rPr lang="zh-CN" altLang="en-US" sz="1600" dirty="0">
                <a:latin typeface="+mn-ea"/>
              </a:rPr>
              <a:t>风险提示。系统集成目标检测、轨迹分析、视觉</a:t>
            </a:r>
            <a:r>
              <a:rPr lang="en-US" altLang="zh-CN" sz="1600" dirty="0">
                <a:latin typeface="+mn-ea"/>
              </a:rPr>
              <a:t>/</a:t>
            </a:r>
            <a:r>
              <a:rPr lang="zh-CN" altLang="en-US" sz="1600" dirty="0">
                <a:latin typeface="+mn-ea"/>
              </a:rPr>
              <a:t>声音告警与事件记录。默认视角锁定前向；本项目是算法原型，不替代驾驶员或车规</a:t>
            </a:r>
            <a:r>
              <a:rPr lang="en-US" altLang="zh-CN" sz="1600" dirty="0">
                <a:latin typeface="+mn-ea"/>
              </a:rPr>
              <a:t> ADAS</a:t>
            </a:r>
            <a:r>
              <a:rPr lang="zh-CN" altLang="en-US" sz="1600" dirty="0">
                <a:latin typeface="+mn-ea"/>
              </a:rPr>
              <a:t>。</a:t>
            </a:r>
            <a:endParaRPr lang="zh-CN" altLang="en-US" sz="1600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0637">
        <p14:pan dir="u"/>
      </p:transition>
    </mc:Choice>
    <mc:Fallback>
      <p:transition spd="slow" advTm="606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5" grpId="0" bldLvl="0" animBg="1"/>
      <p:bldP spid="6" grpId="0"/>
      <p:bldP spid="7" grpId="0"/>
      <p:bldP spid="8" grpId="0" bldLvl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0652" y="2022122"/>
            <a:ext cx="5932714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54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可行性分析</a:t>
            </a:r>
            <a:endParaRPr lang="en-US" altLang="zh-CN" sz="54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72310" y="1632729"/>
            <a:ext cx="3584652" cy="3592538"/>
            <a:chOff x="3437020" y="4201727"/>
            <a:chExt cx="863676" cy="865576"/>
          </a:xfrm>
        </p:grpSpPr>
        <p:sp>
          <p:nvSpPr>
            <p:cNvPr id="19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E4A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0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606">
        <p14:pan dir="u"/>
      </p:transition>
    </mc:Choice>
    <mc:Fallback>
      <p:transition spd="slow" advTm="160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可行性分析与计划</a:t>
            </a:r>
            <a:endParaRPr lang="zh-CN" altLang="en-US" sz="2400" dirty="0">
              <a:solidFill>
                <a:srgbClr val="325B7F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2" name="Rectangle 6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22956" y="1399781"/>
            <a:ext cx="2988426" cy="4284069"/>
          </a:xfrm>
          <a:prstGeom prst="rect">
            <a:avLst/>
          </a:prstGeom>
          <a:solidFill>
            <a:srgbClr val="335C80"/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文本框 1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67084" y="2332652"/>
            <a:ext cx="2496621" cy="320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YOLO11n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（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CPU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）负责目标检测。单目路径由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TWSManager 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稳定轨迹；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SBS 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双目路径配置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ByteTrack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。前向按目标框宽度变化估算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TTC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，侧向用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IPM 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地面坐标估计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BSD/TTL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。当前未提供可复现基准，暂不承诺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FPS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。</a:t>
            </a:r>
            <a:endParaRPr lang="zh-CN" altLang="en-US" sz="15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" name="文本框 1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656648" y="1667592"/>
            <a:ext cx="22573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bg1"/>
                </a:solidFill>
                <a:sym typeface="Arial" panose="020B0604020202020204" pitchFamily="34" charset="0"/>
              </a:rPr>
              <a:t>技术可行性</a:t>
            </a:r>
            <a:endParaRPr lang="zh-CN" altLang="en-US" sz="2000" b="1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" name="Rectangle 6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95725" y="1405133"/>
            <a:ext cx="2908195" cy="42840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文本框 1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45862" y="2332652"/>
            <a:ext cx="2407920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桌面端基于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Python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PyQt5 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与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OpenCV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；本地事件记录使用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SQLite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。视频分析可离线运行；云端账户服务独立可选，配置后才依赖网络。</a:t>
            </a:r>
            <a:endParaRPr lang="zh-CN" altLang="en-US" sz="15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1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323385" y="1667592"/>
            <a:ext cx="1452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bg1"/>
                </a:solidFill>
                <a:sym typeface="Arial" panose="020B0604020202020204" pitchFamily="34" charset="0"/>
              </a:rPr>
              <a:t>经济可行性</a:t>
            </a:r>
            <a:endParaRPr lang="zh-CN" altLang="en-US" sz="2000" b="1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Rectangle 6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788261" y="1405132"/>
            <a:ext cx="2908195" cy="4284068"/>
          </a:xfrm>
          <a:prstGeom prst="rect">
            <a:avLst/>
          </a:prstGeom>
          <a:solidFill>
            <a:srgbClr val="335C80"/>
          </a:solidFill>
          <a:ln>
            <a:noFill/>
          </a:ln>
        </p:spPr>
        <p:txBody>
          <a:bodyPr/>
          <a:lstStyle/>
          <a:p>
            <a:pPr defTabSz="1219200"/>
            <a:endParaRPr lang="zh-CN" altLang="en-US" sz="24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文本框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045575" y="2332355"/>
            <a:ext cx="244665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原型支持摄像头或视频文件输入。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IPM 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依赖相机参数与地面近似，车速含演示用模拟值。输出仅供算法验证，不是车规</a:t>
            </a:r>
            <a:r>
              <a:rPr lang="en-US" altLang="zh-CN" sz="1500" dirty="0">
                <a:solidFill>
                  <a:schemeClr val="bg1"/>
                </a:solidFill>
                <a:sym typeface="Arial" panose="020B0604020202020204" pitchFamily="34" charset="0"/>
              </a:rPr>
              <a:t> ADAS</a:t>
            </a:r>
            <a:r>
              <a:rPr lang="zh-CN" altLang="en-US" sz="1500" dirty="0">
                <a:solidFill>
                  <a:schemeClr val="bg1"/>
                </a:solidFill>
                <a:sym typeface="Arial" panose="020B0604020202020204" pitchFamily="34" charset="0"/>
              </a:rPr>
              <a:t>，也未作道路安全认证。</a:t>
            </a:r>
            <a:endParaRPr lang="zh-CN" altLang="en-US" sz="15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1" name="文本框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542446" y="1667592"/>
            <a:ext cx="1452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bg1"/>
                </a:solidFill>
                <a:sym typeface="Arial" panose="020B0604020202020204" pitchFamily="34" charset="0"/>
              </a:rPr>
              <a:t>应用可行性</a:t>
            </a:r>
            <a:endParaRPr lang="zh-CN" altLang="en-US" sz="2000" b="1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48870">
        <p14:pan dir="u"/>
      </p:transition>
    </mc:Choice>
    <mc:Fallback>
      <p:transition spd="slow" advTm="488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5" grpId="0" bldLvl="0" animBg="1"/>
      <p:bldP spid="6" grpId="0"/>
      <p:bldP spid="7" grpId="0"/>
      <p:bldP spid="8" grpId="0" bldLvl="0" animBg="1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0" y="1996168"/>
            <a:ext cx="5932714" cy="225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r>
              <a:rPr lang="en-US" altLang="zh-CN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5400" b="1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项目创新</a:t>
            </a:r>
            <a:endParaRPr lang="zh-CN" altLang="en-US" sz="54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194146" y="1654509"/>
            <a:ext cx="3584652" cy="3585947"/>
            <a:chOff x="3437020" y="3157655"/>
            <a:chExt cx="863676" cy="863988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rgbClr val="0E4A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19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2974">
        <p14:pan dir="u"/>
      </p:transition>
    </mc:Choice>
    <mc:Fallback>
      <p:transition spd="slow" advTm="297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项目创新</a:t>
            </a:r>
            <a:endParaRPr lang="zh-CN" altLang="en-US" sz="24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6918273" y="1041400"/>
            <a:ext cx="4464378" cy="1270000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18273" y="2514600"/>
            <a:ext cx="4464378" cy="1270000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918273" y="3987800"/>
            <a:ext cx="4464378" cy="1270000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18273" y="1092200"/>
            <a:ext cx="324960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前向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TTC ·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侧向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BSD / TTL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08688" y="1511300"/>
            <a:ext cx="4230562" cy="71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50" dirty="0">
                <a:latin typeface="+mn-ea"/>
              </a:rPr>
              <a:t>视频分路分析；默认锁定前向。自动判别未启用。</a:t>
            </a:r>
            <a:endParaRPr lang="zh-CN" altLang="zh-CN" sz="1450" dirty="0">
              <a:latin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18273" y="2565400"/>
            <a:ext cx="272382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几何线索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+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轨迹趋势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08688" y="2984500"/>
            <a:ext cx="4283392" cy="71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50" dirty="0"/>
              <a:t>前向看框宽变化；侧向看地面坐标与靠近趋势。</a:t>
            </a:r>
            <a:endParaRPr lang="zh-CN" altLang="zh-CN" sz="1450" dirty="0"/>
          </a:p>
        </p:txBody>
      </p:sp>
      <p:sp>
        <p:nvSpPr>
          <p:cNvPr id="22" name="文本框 21"/>
          <p:cNvSpPr txBox="1"/>
          <p:nvPr/>
        </p:nvSpPr>
        <p:spPr>
          <a:xfrm>
            <a:off x="7008688" y="4457700"/>
            <a:ext cx="4248729" cy="71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50" dirty="0">
                <a:latin typeface="+mn-ea"/>
              </a:rPr>
              <a:t>PyQt </a:t>
            </a:r>
            <a:r>
              <a:rPr lang="zh-CN" altLang="en-US" sz="1450" dirty="0">
                <a:latin typeface="+mn-ea"/>
              </a:rPr>
              <a:t>声光告警；事件写入</a:t>
            </a:r>
            <a:r>
              <a:rPr lang="en-US" altLang="zh-CN" sz="1450" dirty="0">
                <a:latin typeface="+mn-ea"/>
              </a:rPr>
              <a:t> SQLite</a:t>
            </a:r>
            <a:r>
              <a:rPr lang="zh-CN" altLang="en-US" sz="1450" dirty="0">
                <a:latin typeface="+mn-ea"/>
              </a:rPr>
              <a:t>。</a:t>
            </a:r>
            <a:endParaRPr lang="zh-CN" altLang="en-US" sz="1450" dirty="0">
              <a:latin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6918201" y="4038600"/>
            <a:ext cx="43738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交互与事件记录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437" y="865109"/>
            <a:ext cx="3678916" cy="548366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08521">
        <p14:pan dir="u"/>
      </p:transition>
    </mc:Choice>
    <mc:Fallback>
      <p:transition spd="slow" advTm="10852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15" grpId="0" bldLvl="0" animBg="1"/>
      <p:bldP spid="16" grpId="0"/>
      <p:bldP spid="17" grpId="0"/>
      <p:bldP spid="18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0652" y="2022122"/>
            <a:ext cx="5932714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  <a:r>
              <a:rPr lang="en-US" altLang="zh-CN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54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72310" y="1632729"/>
            <a:ext cx="3584652" cy="3592538"/>
            <a:chOff x="3437020" y="4201727"/>
            <a:chExt cx="863676" cy="865576"/>
          </a:xfrm>
        </p:grpSpPr>
        <p:sp>
          <p:nvSpPr>
            <p:cNvPr id="19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E4A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0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2812">
        <p14:pan dir="u"/>
      </p:transition>
    </mc:Choice>
    <mc:Fallback>
      <p:transition spd="slow" advTm="281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数据处理与告警闭环</a:t>
            </a:r>
            <a:endParaRPr lang="zh-CN" altLang="en-US" sz="24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4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6" name="圆角矩形 5"/>
          <p:cNvSpPr/>
          <p:nvPr/>
        </p:nvSpPr>
        <p:spPr>
          <a:xfrm>
            <a:off x="2286000" y="1244600"/>
            <a:ext cx="1752600" cy="863600"/>
          </a:xfrm>
          <a:prstGeom prst="roundRect">
            <a:avLst/>
          </a:prstGeom>
          <a:solidFill>
            <a:srgbClr val="EEF4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摄像头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endParaRPr lang="zh-CN" altLang="en-US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445000" y="1244600"/>
            <a:ext cx="2006600" cy="863600"/>
          </a:xfrm>
          <a:prstGeom prst="roundRect">
            <a:avLst/>
          </a:prstGeom>
          <a:solidFill>
            <a:srgbClr val="EEF4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读取与预处理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VideoThread / OpenCV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883400" y="1244600"/>
            <a:ext cx="2476500" cy="990600"/>
          </a:xfrm>
          <a:prstGeom prst="roundRect">
            <a:avLst/>
          </a:prstGeom>
          <a:solidFill>
            <a:srgbClr val="E2EE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检测与轨迹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YOLO11n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TWS / SBS ByteTrack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038600" y="1676400"/>
            <a:ext cx="406400" cy="635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451600" y="1676400"/>
            <a:ext cx="431800" cy="635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29000" y="2997200"/>
            <a:ext cx="3556000" cy="1447800"/>
          </a:xfrm>
          <a:prstGeom prst="roundRect">
            <a:avLst/>
          </a:prstGeom>
          <a:solidFill>
            <a:srgbClr val="E2EE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前向风险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宽度变化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TTC
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目标区域筛选</a:t>
            </a:r>
            <a:endParaRPr lang="zh-CN" altLang="en-US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93000" y="2997200"/>
            <a:ext cx="3683000" cy="1447800"/>
          </a:xfrm>
          <a:prstGeom prst="roundRect">
            <a:avLst/>
          </a:prstGeom>
          <a:solidFill>
            <a:srgbClr val="E5F4E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侧向风险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SideIPM → 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地面坐标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BSD / TTL 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分级</a:t>
            </a:r>
            <a:endParaRPr lang="zh-CN" altLang="en-US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5207000" y="2235200"/>
            <a:ext cx="2908300" cy="7620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8115300" y="2235200"/>
            <a:ext cx="1219200" cy="7620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4699000" y="5054600"/>
            <a:ext cx="3111500" cy="736600"/>
          </a:xfrm>
          <a:prstGeom prst="roundRect">
            <a:avLst/>
          </a:prstGeom>
          <a:solidFill>
            <a:srgbClr val="E2EE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界面与告警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PyQt5 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声光提示</a:t>
            </a:r>
            <a:endParaRPr lang="zh-CN" altLang="en-US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318500" y="5054600"/>
            <a:ext cx="3111500" cy="736600"/>
          </a:xfrm>
          <a:prstGeom prst="roundRect">
            <a:avLst/>
          </a:prstGeom>
          <a:solidFill>
            <a:srgbClr val="EEF4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留痕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SQLite </a:t>
            </a:r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</a:t>
            </a:r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logs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207000" y="4445000"/>
            <a:ext cx="698500" cy="6096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6604000" y="4445000"/>
            <a:ext cx="2730500" cy="6096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7810500" y="5422900"/>
            <a:ext cx="508000" cy="635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286000" y="5969000"/>
            <a:ext cx="9461500" cy="370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3D4A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连续帧确认后更新风险状态；事件记录便于回看。</a:t>
            </a:r>
            <a:endParaRPr lang="zh-CN" altLang="en-US" sz="1400" dirty="0" smtClean="0">
              <a:solidFill>
                <a:srgbClr val="3D4A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8758">
        <p14:pan dir="u"/>
      </p:transition>
    </mc:Choice>
    <mc:Fallback>
      <p:transition spd="slow" advTm="875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项目架构</a:t>
            </a:r>
            <a:endParaRPr lang="zh-CN" altLang="en-US" sz="24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4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 bwMode="auto">
          <a:xfrm>
            <a:off x="5166057" y="3807322"/>
            <a:ext cx="1132145" cy="492440"/>
          </a:xfrm>
          <a:prstGeom prst="rect">
            <a:avLst/>
          </a:prstGeom>
          <a:solidFill>
            <a:srgbClr val="335C8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35661" y="4296756"/>
            <a:ext cx="3126158" cy="2003535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前向：宽度变化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TTC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侧向：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IPM → BSD / TTL</a:t>
            </a:r>
            <a:endParaRPr lang="en-US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默认锁定前向</a:t>
            </a:r>
            <a:endParaRPr lang="zh-CN" altLang="zh-CN" sz="15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705753" y="2215794"/>
            <a:ext cx="1926706" cy="492440"/>
          </a:xfrm>
          <a:prstGeom prst="rect">
            <a:avLst/>
          </a:prstGeom>
          <a:solidFill>
            <a:srgbClr val="335C8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775356" y="2705229"/>
            <a:ext cx="3126159" cy="1822206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：视频预处理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YOLO11n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TWS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：单目轨迹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ByteTrack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：仅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SBS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5116010" y="406016"/>
            <a:ext cx="1905000" cy="492440"/>
          </a:xfrm>
          <a:prstGeom prst="rect">
            <a:avLst/>
          </a:prstGeom>
          <a:solidFill>
            <a:srgbClr val="335C8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17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交互与记录层</a:t>
            </a:r>
            <a:endParaRPr lang="zh-CN" altLang="en-US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85613" y="895450"/>
            <a:ext cx="3305565" cy="1909009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PyQt</a:t>
            </a:r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：视频与风险界面</a:t>
            </a:r>
            <a:endParaRPr lang="en-US" altLang="zh-CN" sz="135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Front / SideAlarm</a:t>
            </a:r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：声光告警</a:t>
            </a:r>
            <a:endParaRPr lang="en-US" altLang="zh-CN" sz="135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</a:t>
            </a:r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：事件；</a:t>
            </a:r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logs</a:t>
            </a:r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：诊断</a:t>
            </a:r>
            <a:endParaRPr lang="en-US" altLang="zh-CN" sz="135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Flask</a:t>
            </a:r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：独立可选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>
            <a:endCxn id="11" idx="1"/>
          </p:cNvCxnSpPr>
          <p:nvPr/>
        </p:nvCxnSpPr>
        <p:spPr>
          <a:xfrm flipV="1">
            <a:off x="4752521" y="3616332"/>
            <a:ext cx="4022835" cy="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4752445" y="1973484"/>
            <a:ext cx="433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4752445" y="5298524"/>
            <a:ext cx="483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2286000" y="1244600"/>
            <a:ext cx="2476500" cy="825500"/>
          </a:xfrm>
          <a:prstGeom prst="roundRect">
            <a:avLst/>
          </a:prstGeom>
          <a:solidFill>
            <a:srgbClr val="EEF4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入口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main.py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286000" y="2413000"/>
            <a:ext cx="2476500" cy="1041400"/>
          </a:xfrm>
          <a:prstGeom prst="roundRect">
            <a:avLst/>
          </a:prstGeom>
          <a:solidFill>
            <a:srgbClr val="E2EE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处理线程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VideoThread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286000" y="3835400"/>
            <a:ext cx="2476500" cy="1041400"/>
          </a:xfrm>
          <a:prstGeom prst="roundRect">
            <a:avLst/>
          </a:prstGeom>
          <a:solidFill>
            <a:srgbClr val="E5F4EF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风险模块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Front / Side Detector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286000" y="5257800"/>
            <a:ext cx="2476500" cy="825500"/>
          </a:xfrm>
          <a:prstGeom prst="roundRect">
            <a:avLst/>
          </a:prstGeom>
          <a:solidFill>
            <a:srgbClr val="EEF4F9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63500" rIns="88900" bIns="50800" rtlCol="0" anchor="ctr"/>
          <a:p>
            <a:pPr algn="ctr"/>
            <a:r>
              <a:rPr lang="zh-CN" altLang="en-US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sz="1400">
                <a:solidFill>
                  <a:srgbClr val="243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SQLite / logs</a:t>
            </a:r>
            <a:endParaRPr lang="en-US" altLang="zh-CN" sz="1400">
              <a:solidFill>
                <a:srgbClr val="243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517900" y="2070100"/>
            <a:ext cx="635" cy="3429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3517900" y="3454400"/>
            <a:ext cx="635" cy="3810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3517900" y="4876800"/>
            <a:ext cx="635" cy="381000"/>
          </a:xfrm>
          <a:prstGeom prst="straightConnector1">
            <a:avLst/>
          </a:prstGeom>
          <a:ln w="19050">
            <a:solidFill>
              <a:srgbClr val="315B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11774">
        <p14:pan dir="u"/>
      </p:transition>
    </mc:Choice>
    <mc:Fallback>
      <p:transition spd="slow" advTm="1177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bldLvl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0652" y="2022122"/>
            <a:ext cx="5932714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第五部分</a:t>
            </a:r>
            <a:r>
              <a:rPr lang="en-US" altLang="zh-CN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54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核心算法</a:t>
            </a:r>
            <a:endParaRPr lang="zh-CN" altLang="en-US" sz="54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72310" y="1632729"/>
            <a:ext cx="3584652" cy="3592538"/>
            <a:chOff x="3437020" y="4201727"/>
            <a:chExt cx="863676" cy="865576"/>
          </a:xfrm>
        </p:grpSpPr>
        <p:sp>
          <p:nvSpPr>
            <p:cNvPr id="19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E4A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0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3958">
        <p14:pan dir="u"/>
      </p:transition>
    </mc:Choice>
    <mc:Fallback>
      <p:transition spd="slow" advTm="395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92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核心算法</a:t>
            </a:r>
            <a:endParaRPr lang="zh-CN" altLang="en-US" sz="2400" dirty="0">
              <a:solidFill>
                <a:srgbClr val="325B7F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203" name="组合 202"/>
          <p:cNvGrpSpPr/>
          <p:nvPr/>
        </p:nvGrpSpPr>
        <p:grpSpPr>
          <a:xfrm>
            <a:off x="5940596" y="1974115"/>
            <a:ext cx="1942729" cy="3318686"/>
            <a:chOff x="5783707" y="1649009"/>
            <a:chExt cx="2809892" cy="4572778"/>
          </a:xfrm>
        </p:grpSpPr>
        <p:sp>
          <p:nvSpPr>
            <p:cNvPr id="26" name="椭圆 25"/>
            <p:cNvSpPr/>
            <p:nvPr/>
          </p:nvSpPr>
          <p:spPr>
            <a:xfrm>
              <a:off x="5783707" y="5796695"/>
              <a:ext cx="2809892" cy="425092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alpha val="62000"/>
                  </a:sysClr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lIns="146272" tIns="73135" rIns="146272" bIns="73135" rtlCol="0" anchor="ctr"/>
            <a:lstStyle/>
            <a:p>
              <a:pPr algn="ctr" defTabSz="14624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60" ker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5886535" y="1677558"/>
              <a:ext cx="2586211" cy="4335678"/>
              <a:chOff x="3546995" y="2016281"/>
              <a:chExt cx="1616382" cy="2709799"/>
            </a:xfrm>
          </p:grpSpPr>
          <p:sp>
            <p:nvSpPr>
              <p:cNvPr id="28" name="Freeform 33"/>
              <p:cNvSpPr/>
              <p:nvPr/>
            </p:nvSpPr>
            <p:spPr bwMode="auto">
              <a:xfrm>
                <a:off x="3546995" y="2016281"/>
                <a:ext cx="1616382" cy="2028724"/>
              </a:xfrm>
              <a:custGeom>
                <a:avLst/>
                <a:gdLst>
                  <a:gd name="T0" fmla="*/ 249 w 498"/>
                  <a:gd name="T1" fmla="*/ 0 h 625"/>
                  <a:gd name="T2" fmla="*/ 0 w 498"/>
                  <a:gd name="T3" fmla="*/ 240 h 625"/>
                  <a:gd name="T4" fmla="*/ 17 w 498"/>
                  <a:gd name="T5" fmla="*/ 328 h 625"/>
                  <a:gd name="T6" fmla="*/ 17 w 498"/>
                  <a:gd name="T7" fmla="*/ 328 h 625"/>
                  <a:gd name="T8" fmla="*/ 31 w 498"/>
                  <a:gd name="T9" fmla="*/ 356 h 625"/>
                  <a:gd name="T10" fmla="*/ 95 w 498"/>
                  <a:gd name="T11" fmla="*/ 488 h 625"/>
                  <a:gd name="T12" fmla="*/ 108 w 498"/>
                  <a:gd name="T13" fmla="*/ 539 h 625"/>
                  <a:gd name="T14" fmla="*/ 115 w 498"/>
                  <a:gd name="T15" fmla="*/ 588 h 625"/>
                  <a:gd name="T16" fmla="*/ 153 w 498"/>
                  <a:gd name="T17" fmla="*/ 625 h 625"/>
                  <a:gd name="T18" fmla="*/ 249 w 498"/>
                  <a:gd name="T19" fmla="*/ 625 h 625"/>
                  <a:gd name="T20" fmla="*/ 344 w 498"/>
                  <a:gd name="T21" fmla="*/ 625 h 625"/>
                  <a:gd name="T22" fmla="*/ 382 w 498"/>
                  <a:gd name="T23" fmla="*/ 588 h 625"/>
                  <a:gd name="T24" fmla="*/ 390 w 498"/>
                  <a:gd name="T25" fmla="*/ 539 h 625"/>
                  <a:gd name="T26" fmla="*/ 403 w 498"/>
                  <a:gd name="T27" fmla="*/ 488 h 625"/>
                  <a:gd name="T28" fmla="*/ 467 w 498"/>
                  <a:gd name="T29" fmla="*/ 356 h 625"/>
                  <a:gd name="T30" fmla="*/ 480 w 498"/>
                  <a:gd name="T31" fmla="*/ 328 h 625"/>
                  <a:gd name="T32" fmla="*/ 480 w 498"/>
                  <a:gd name="T33" fmla="*/ 328 h 625"/>
                  <a:gd name="T34" fmla="*/ 498 w 498"/>
                  <a:gd name="T35" fmla="*/ 240 h 625"/>
                  <a:gd name="T36" fmla="*/ 249 w 498"/>
                  <a:gd name="T37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98" h="625">
                    <a:moveTo>
                      <a:pt x="249" y="0"/>
                    </a:moveTo>
                    <a:cubicBezTo>
                      <a:pt x="113" y="0"/>
                      <a:pt x="0" y="107"/>
                      <a:pt x="0" y="240"/>
                    </a:cubicBezTo>
                    <a:cubicBezTo>
                      <a:pt x="0" y="271"/>
                      <a:pt x="6" y="301"/>
                      <a:pt x="17" y="328"/>
                    </a:cubicBezTo>
                    <a:cubicBezTo>
                      <a:pt x="17" y="328"/>
                      <a:pt x="17" y="328"/>
                      <a:pt x="17" y="328"/>
                    </a:cubicBezTo>
                    <a:cubicBezTo>
                      <a:pt x="21" y="338"/>
                      <a:pt x="26" y="347"/>
                      <a:pt x="31" y="356"/>
                    </a:cubicBezTo>
                    <a:cubicBezTo>
                      <a:pt x="48" y="391"/>
                      <a:pt x="77" y="451"/>
                      <a:pt x="95" y="488"/>
                    </a:cubicBezTo>
                    <a:cubicBezTo>
                      <a:pt x="95" y="488"/>
                      <a:pt x="108" y="525"/>
                      <a:pt x="108" y="539"/>
                    </a:cubicBezTo>
                    <a:cubicBezTo>
                      <a:pt x="108" y="554"/>
                      <a:pt x="109" y="576"/>
                      <a:pt x="115" y="588"/>
                    </a:cubicBezTo>
                    <a:cubicBezTo>
                      <a:pt x="119" y="595"/>
                      <a:pt x="129" y="612"/>
                      <a:pt x="153" y="625"/>
                    </a:cubicBezTo>
                    <a:cubicBezTo>
                      <a:pt x="249" y="625"/>
                      <a:pt x="249" y="625"/>
                      <a:pt x="249" y="625"/>
                    </a:cubicBezTo>
                    <a:cubicBezTo>
                      <a:pt x="344" y="625"/>
                      <a:pt x="344" y="625"/>
                      <a:pt x="344" y="625"/>
                    </a:cubicBezTo>
                    <a:cubicBezTo>
                      <a:pt x="368" y="612"/>
                      <a:pt x="379" y="595"/>
                      <a:pt x="382" y="588"/>
                    </a:cubicBezTo>
                    <a:cubicBezTo>
                      <a:pt x="388" y="576"/>
                      <a:pt x="390" y="554"/>
                      <a:pt x="390" y="539"/>
                    </a:cubicBezTo>
                    <a:cubicBezTo>
                      <a:pt x="390" y="525"/>
                      <a:pt x="403" y="488"/>
                      <a:pt x="403" y="488"/>
                    </a:cubicBezTo>
                    <a:cubicBezTo>
                      <a:pt x="420" y="451"/>
                      <a:pt x="450" y="391"/>
                      <a:pt x="467" y="356"/>
                    </a:cubicBezTo>
                    <a:cubicBezTo>
                      <a:pt x="472" y="347"/>
                      <a:pt x="476" y="338"/>
                      <a:pt x="480" y="328"/>
                    </a:cubicBezTo>
                    <a:cubicBezTo>
                      <a:pt x="480" y="328"/>
                      <a:pt x="480" y="328"/>
                      <a:pt x="480" y="328"/>
                    </a:cubicBezTo>
                    <a:cubicBezTo>
                      <a:pt x="492" y="301"/>
                      <a:pt x="498" y="271"/>
                      <a:pt x="498" y="240"/>
                    </a:cubicBezTo>
                    <a:cubicBezTo>
                      <a:pt x="498" y="107"/>
                      <a:pt x="385" y="0"/>
                      <a:pt x="249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>
                <a:noFill/>
              </a:ln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33"/>
              <p:cNvSpPr/>
              <p:nvPr/>
            </p:nvSpPr>
            <p:spPr bwMode="auto">
              <a:xfrm>
                <a:off x="3587885" y="2067602"/>
                <a:ext cx="1534601" cy="1926082"/>
              </a:xfrm>
              <a:custGeom>
                <a:avLst/>
                <a:gdLst>
                  <a:gd name="T0" fmla="*/ 249 w 498"/>
                  <a:gd name="T1" fmla="*/ 0 h 625"/>
                  <a:gd name="T2" fmla="*/ 0 w 498"/>
                  <a:gd name="T3" fmla="*/ 240 h 625"/>
                  <a:gd name="T4" fmla="*/ 17 w 498"/>
                  <a:gd name="T5" fmla="*/ 328 h 625"/>
                  <a:gd name="T6" fmla="*/ 17 w 498"/>
                  <a:gd name="T7" fmla="*/ 328 h 625"/>
                  <a:gd name="T8" fmla="*/ 31 w 498"/>
                  <a:gd name="T9" fmla="*/ 356 h 625"/>
                  <a:gd name="T10" fmla="*/ 95 w 498"/>
                  <a:gd name="T11" fmla="*/ 488 h 625"/>
                  <a:gd name="T12" fmla="*/ 108 w 498"/>
                  <a:gd name="T13" fmla="*/ 539 h 625"/>
                  <a:gd name="T14" fmla="*/ 115 w 498"/>
                  <a:gd name="T15" fmla="*/ 588 h 625"/>
                  <a:gd name="T16" fmla="*/ 153 w 498"/>
                  <a:gd name="T17" fmla="*/ 625 h 625"/>
                  <a:gd name="T18" fmla="*/ 249 w 498"/>
                  <a:gd name="T19" fmla="*/ 625 h 625"/>
                  <a:gd name="T20" fmla="*/ 344 w 498"/>
                  <a:gd name="T21" fmla="*/ 625 h 625"/>
                  <a:gd name="T22" fmla="*/ 382 w 498"/>
                  <a:gd name="T23" fmla="*/ 588 h 625"/>
                  <a:gd name="T24" fmla="*/ 390 w 498"/>
                  <a:gd name="T25" fmla="*/ 539 h 625"/>
                  <a:gd name="T26" fmla="*/ 403 w 498"/>
                  <a:gd name="T27" fmla="*/ 488 h 625"/>
                  <a:gd name="T28" fmla="*/ 467 w 498"/>
                  <a:gd name="T29" fmla="*/ 356 h 625"/>
                  <a:gd name="T30" fmla="*/ 480 w 498"/>
                  <a:gd name="T31" fmla="*/ 328 h 625"/>
                  <a:gd name="T32" fmla="*/ 480 w 498"/>
                  <a:gd name="T33" fmla="*/ 328 h 625"/>
                  <a:gd name="T34" fmla="*/ 498 w 498"/>
                  <a:gd name="T35" fmla="*/ 240 h 625"/>
                  <a:gd name="T36" fmla="*/ 249 w 498"/>
                  <a:gd name="T37" fmla="*/ 0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98" h="625">
                    <a:moveTo>
                      <a:pt x="249" y="0"/>
                    </a:moveTo>
                    <a:cubicBezTo>
                      <a:pt x="113" y="0"/>
                      <a:pt x="0" y="107"/>
                      <a:pt x="0" y="240"/>
                    </a:cubicBezTo>
                    <a:cubicBezTo>
                      <a:pt x="0" y="271"/>
                      <a:pt x="6" y="301"/>
                      <a:pt x="17" y="328"/>
                    </a:cubicBezTo>
                    <a:cubicBezTo>
                      <a:pt x="17" y="328"/>
                      <a:pt x="17" y="328"/>
                      <a:pt x="17" y="328"/>
                    </a:cubicBezTo>
                    <a:cubicBezTo>
                      <a:pt x="21" y="338"/>
                      <a:pt x="26" y="347"/>
                      <a:pt x="31" y="356"/>
                    </a:cubicBezTo>
                    <a:cubicBezTo>
                      <a:pt x="48" y="391"/>
                      <a:pt x="77" y="451"/>
                      <a:pt x="95" y="488"/>
                    </a:cubicBezTo>
                    <a:cubicBezTo>
                      <a:pt x="95" y="488"/>
                      <a:pt x="108" y="525"/>
                      <a:pt x="108" y="539"/>
                    </a:cubicBezTo>
                    <a:cubicBezTo>
                      <a:pt x="108" y="554"/>
                      <a:pt x="109" y="576"/>
                      <a:pt x="115" y="588"/>
                    </a:cubicBezTo>
                    <a:cubicBezTo>
                      <a:pt x="119" y="595"/>
                      <a:pt x="129" y="612"/>
                      <a:pt x="153" y="625"/>
                    </a:cubicBezTo>
                    <a:cubicBezTo>
                      <a:pt x="249" y="625"/>
                      <a:pt x="249" y="625"/>
                      <a:pt x="249" y="625"/>
                    </a:cubicBezTo>
                    <a:cubicBezTo>
                      <a:pt x="344" y="625"/>
                      <a:pt x="344" y="625"/>
                      <a:pt x="344" y="625"/>
                    </a:cubicBezTo>
                    <a:cubicBezTo>
                      <a:pt x="368" y="612"/>
                      <a:pt x="379" y="595"/>
                      <a:pt x="382" y="588"/>
                    </a:cubicBezTo>
                    <a:cubicBezTo>
                      <a:pt x="388" y="576"/>
                      <a:pt x="390" y="554"/>
                      <a:pt x="390" y="539"/>
                    </a:cubicBezTo>
                    <a:cubicBezTo>
                      <a:pt x="390" y="525"/>
                      <a:pt x="403" y="488"/>
                      <a:pt x="403" y="488"/>
                    </a:cubicBezTo>
                    <a:cubicBezTo>
                      <a:pt x="420" y="451"/>
                      <a:pt x="450" y="391"/>
                      <a:pt x="467" y="356"/>
                    </a:cubicBezTo>
                    <a:cubicBezTo>
                      <a:pt x="472" y="347"/>
                      <a:pt x="476" y="338"/>
                      <a:pt x="480" y="328"/>
                    </a:cubicBezTo>
                    <a:cubicBezTo>
                      <a:pt x="480" y="328"/>
                      <a:pt x="480" y="328"/>
                      <a:pt x="480" y="328"/>
                    </a:cubicBezTo>
                    <a:cubicBezTo>
                      <a:pt x="492" y="301"/>
                      <a:pt x="498" y="271"/>
                      <a:pt x="498" y="240"/>
                    </a:cubicBezTo>
                    <a:cubicBezTo>
                      <a:pt x="498" y="107"/>
                      <a:pt x="385" y="0"/>
                      <a:pt x="249" y="0"/>
                    </a:cubicBez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>
                <a:noFill/>
              </a:ln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3999883" y="4025097"/>
                <a:ext cx="716912" cy="700983"/>
                <a:chOff x="3759201" y="3508375"/>
                <a:chExt cx="828024" cy="809626"/>
              </a:xfrm>
            </p:grpSpPr>
            <p:sp>
              <p:nvSpPr>
                <p:cNvPr id="33" name="Freeform 6"/>
                <p:cNvSpPr/>
                <p:nvPr/>
              </p:nvSpPr>
              <p:spPr bwMode="auto">
                <a:xfrm>
                  <a:off x="3764900" y="3508375"/>
                  <a:ext cx="822325" cy="757238"/>
                </a:xfrm>
                <a:custGeom>
                  <a:avLst/>
                  <a:gdLst>
                    <a:gd name="T0" fmla="*/ 216 w 220"/>
                    <a:gd name="T1" fmla="*/ 0 h 202"/>
                    <a:gd name="T2" fmla="*/ 213 w 220"/>
                    <a:gd name="T3" fmla="*/ 3 h 202"/>
                    <a:gd name="T4" fmla="*/ 213 w 220"/>
                    <a:gd name="T5" fmla="*/ 14 h 202"/>
                    <a:gd name="T6" fmla="*/ 211 w 220"/>
                    <a:gd name="T7" fmla="*/ 16 h 202"/>
                    <a:gd name="T8" fmla="*/ 218 w 220"/>
                    <a:gd name="T9" fmla="*/ 24 h 202"/>
                    <a:gd name="T10" fmla="*/ 217 w 220"/>
                    <a:gd name="T11" fmla="*/ 35 h 202"/>
                    <a:gd name="T12" fmla="*/ 210 w 220"/>
                    <a:gd name="T13" fmla="*/ 42 h 202"/>
                    <a:gd name="T14" fmla="*/ 209 w 220"/>
                    <a:gd name="T15" fmla="*/ 48 h 202"/>
                    <a:gd name="T16" fmla="*/ 217 w 220"/>
                    <a:gd name="T17" fmla="*/ 55 h 202"/>
                    <a:gd name="T18" fmla="*/ 216 w 220"/>
                    <a:gd name="T19" fmla="*/ 66 h 202"/>
                    <a:gd name="T20" fmla="*/ 210 w 220"/>
                    <a:gd name="T21" fmla="*/ 71 h 202"/>
                    <a:gd name="T22" fmla="*/ 210 w 220"/>
                    <a:gd name="T23" fmla="*/ 80 h 202"/>
                    <a:gd name="T24" fmla="*/ 218 w 220"/>
                    <a:gd name="T25" fmla="*/ 89 h 202"/>
                    <a:gd name="T26" fmla="*/ 214 w 220"/>
                    <a:gd name="T27" fmla="*/ 97 h 202"/>
                    <a:gd name="T28" fmla="*/ 209 w 220"/>
                    <a:gd name="T29" fmla="*/ 102 h 202"/>
                    <a:gd name="T30" fmla="*/ 210 w 220"/>
                    <a:gd name="T31" fmla="*/ 108 h 202"/>
                    <a:gd name="T32" fmla="*/ 217 w 220"/>
                    <a:gd name="T33" fmla="*/ 116 h 202"/>
                    <a:gd name="T34" fmla="*/ 215 w 220"/>
                    <a:gd name="T35" fmla="*/ 125 h 202"/>
                    <a:gd name="T36" fmla="*/ 209 w 220"/>
                    <a:gd name="T37" fmla="*/ 131 h 202"/>
                    <a:gd name="T38" fmla="*/ 209 w 220"/>
                    <a:gd name="T39" fmla="*/ 138 h 202"/>
                    <a:gd name="T40" fmla="*/ 214 w 220"/>
                    <a:gd name="T41" fmla="*/ 145 h 202"/>
                    <a:gd name="T42" fmla="*/ 206 w 220"/>
                    <a:gd name="T43" fmla="*/ 161 h 202"/>
                    <a:gd name="T44" fmla="*/ 159 w 220"/>
                    <a:gd name="T45" fmla="*/ 202 h 202"/>
                    <a:gd name="T46" fmla="*/ 61 w 220"/>
                    <a:gd name="T47" fmla="*/ 202 h 202"/>
                    <a:gd name="T48" fmla="*/ 13 w 220"/>
                    <a:gd name="T49" fmla="*/ 161 h 202"/>
                    <a:gd name="T50" fmla="*/ 12 w 220"/>
                    <a:gd name="T51" fmla="*/ 152 h 202"/>
                    <a:gd name="T52" fmla="*/ 9 w 220"/>
                    <a:gd name="T53" fmla="*/ 142 h 202"/>
                    <a:gd name="T54" fmla="*/ 2 w 220"/>
                    <a:gd name="T55" fmla="*/ 135 h 202"/>
                    <a:gd name="T56" fmla="*/ 5 w 220"/>
                    <a:gd name="T57" fmla="*/ 126 h 202"/>
                    <a:gd name="T58" fmla="*/ 8 w 220"/>
                    <a:gd name="T59" fmla="*/ 119 h 202"/>
                    <a:gd name="T60" fmla="*/ 4 w 220"/>
                    <a:gd name="T61" fmla="*/ 108 h 202"/>
                    <a:gd name="T62" fmla="*/ 3 w 220"/>
                    <a:gd name="T63" fmla="*/ 97 h 202"/>
                    <a:gd name="T64" fmla="*/ 8 w 220"/>
                    <a:gd name="T65" fmla="*/ 91 h 202"/>
                    <a:gd name="T66" fmla="*/ 8 w 220"/>
                    <a:gd name="T67" fmla="*/ 85 h 202"/>
                    <a:gd name="T68" fmla="*/ 2 w 220"/>
                    <a:gd name="T69" fmla="*/ 76 h 202"/>
                    <a:gd name="T70" fmla="*/ 5 w 220"/>
                    <a:gd name="T71" fmla="*/ 66 h 202"/>
                    <a:gd name="T72" fmla="*/ 9 w 220"/>
                    <a:gd name="T73" fmla="*/ 61 h 202"/>
                    <a:gd name="T74" fmla="*/ 8 w 220"/>
                    <a:gd name="T75" fmla="*/ 54 h 202"/>
                    <a:gd name="T76" fmla="*/ 2 w 220"/>
                    <a:gd name="T77" fmla="*/ 44 h 202"/>
                    <a:gd name="T78" fmla="*/ 2 w 220"/>
                    <a:gd name="T79" fmla="*/ 16 h 202"/>
                    <a:gd name="T80" fmla="*/ 2 w 220"/>
                    <a:gd name="T81" fmla="*/ 11 h 202"/>
                    <a:gd name="T82" fmla="*/ 2 w 220"/>
                    <a:gd name="T83" fmla="*/ 1 h 202"/>
                    <a:gd name="T84" fmla="*/ 0 w 220"/>
                    <a:gd name="T85" fmla="*/ 0 h 202"/>
                    <a:gd name="T86" fmla="*/ 216 w 220"/>
                    <a:gd name="T87" fmla="*/ 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20" h="202">
                      <a:moveTo>
                        <a:pt x="216" y="0"/>
                      </a:moveTo>
                      <a:cubicBezTo>
                        <a:pt x="213" y="3"/>
                        <a:pt x="213" y="3"/>
                        <a:pt x="213" y="3"/>
                      </a:cubicBezTo>
                      <a:cubicBezTo>
                        <a:pt x="213" y="14"/>
                        <a:pt x="213" y="14"/>
                        <a:pt x="213" y="14"/>
                      </a:cubicBezTo>
                      <a:cubicBezTo>
                        <a:pt x="211" y="16"/>
                        <a:pt x="211" y="16"/>
                        <a:pt x="211" y="16"/>
                      </a:cubicBezTo>
                      <a:cubicBezTo>
                        <a:pt x="211" y="16"/>
                        <a:pt x="216" y="20"/>
                        <a:pt x="218" y="24"/>
                      </a:cubicBezTo>
                      <a:cubicBezTo>
                        <a:pt x="220" y="28"/>
                        <a:pt x="220" y="33"/>
                        <a:pt x="217" y="35"/>
                      </a:cubicBezTo>
                      <a:cubicBezTo>
                        <a:pt x="214" y="38"/>
                        <a:pt x="210" y="39"/>
                        <a:pt x="210" y="42"/>
                      </a:cubicBezTo>
                      <a:cubicBezTo>
                        <a:pt x="210" y="44"/>
                        <a:pt x="209" y="48"/>
                        <a:pt x="209" y="48"/>
                      </a:cubicBezTo>
                      <a:cubicBezTo>
                        <a:pt x="209" y="48"/>
                        <a:pt x="216" y="51"/>
                        <a:pt x="217" y="55"/>
                      </a:cubicBezTo>
                      <a:cubicBezTo>
                        <a:pt x="219" y="60"/>
                        <a:pt x="218" y="64"/>
                        <a:pt x="216" y="66"/>
                      </a:cubicBezTo>
                      <a:cubicBezTo>
                        <a:pt x="213" y="67"/>
                        <a:pt x="210" y="71"/>
                        <a:pt x="210" y="71"/>
                      </a:cubicBezTo>
                      <a:cubicBezTo>
                        <a:pt x="210" y="80"/>
                        <a:pt x="210" y="80"/>
                        <a:pt x="210" y="80"/>
                      </a:cubicBezTo>
                      <a:cubicBezTo>
                        <a:pt x="210" y="80"/>
                        <a:pt x="218" y="85"/>
                        <a:pt x="218" y="89"/>
                      </a:cubicBezTo>
                      <a:cubicBezTo>
                        <a:pt x="218" y="94"/>
                        <a:pt x="214" y="97"/>
                        <a:pt x="214" y="97"/>
                      </a:cubicBezTo>
                      <a:cubicBezTo>
                        <a:pt x="209" y="102"/>
                        <a:pt x="209" y="102"/>
                        <a:pt x="209" y="102"/>
                      </a:cubicBezTo>
                      <a:cubicBezTo>
                        <a:pt x="210" y="108"/>
                        <a:pt x="210" y="108"/>
                        <a:pt x="210" y="108"/>
                      </a:cubicBezTo>
                      <a:cubicBezTo>
                        <a:pt x="210" y="108"/>
                        <a:pt x="216" y="112"/>
                        <a:pt x="217" y="116"/>
                      </a:cubicBezTo>
                      <a:cubicBezTo>
                        <a:pt x="218" y="120"/>
                        <a:pt x="217" y="123"/>
                        <a:pt x="215" y="125"/>
                      </a:cubicBezTo>
                      <a:cubicBezTo>
                        <a:pt x="213" y="127"/>
                        <a:pt x="209" y="131"/>
                        <a:pt x="209" y="131"/>
                      </a:cubicBezTo>
                      <a:cubicBezTo>
                        <a:pt x="209" y="138"/>
                        <a:pt x="209" y="138"/>
                        <a:pt x="209" y="138"/>
                      </a:cubicBezTo>
                      <a:cubicBezTo>
                        <a:pt x="209" y="138"/>
                        <a:pt x="213" y="141"/>
                        <a:pt x="214" y="145"/>
                      </a:cubicBezTo>
                      <a:cubicBezTo>
                        <a:pt x="214" y="148"/>
                        <a:pt x="209" y="158"/>
                        <a:pt x="206" y="161"/>
                      </a:cubicBezTo>
                      <a:cubicBezTo>
                        <a:pt x="203" y="163"/>
                        <a:pt x="159" y="202"/>
                        <a:pt x="159" y="202"/>
                      </a:cubicBezTo>
                      <a:cubicBezTo>
                        <a:pt x="61" y="202"/>
                        <a:pt x="61" y="202"/>
                        <a:pt x="61" y="202"/>
                      </a:cubicBezTo>
                      <a:cubicBezTo>
                        <a:pt x="13" y="161"/>
                        <a:pt x="13" y="161"/>
                        <a:pt x="13" y="161"/>
                      </a:cubicBezTo>
                      <a:cubicBezTo>
                        <a:pt x="13" y="161"/>
                        <a:pt x="12" y="155"/>
                        <a:pt x="12" y="152"/>
                      </a:cubicBezTo>
                      <a:cubicBezTo>
                        <a:pt x="11" y="149"/>
                        <a:pt x="12" y="144"/>
                        <a:pt x="9" y="142"/>
                      </a:cubicBezTo>
                      <a:cubicBezTo>
                        <a:pt x="7" y="140"/>
                        <a:pt x="2" y="139"/>
                        <a:pt x="2" y="135"/>
                      </a:cubicBezTo>
                      <a:cubicBezTo>
                        <a:pt x="2" y="130"/>
                        <a:pt x="3" y="127"/>
                        <a:pt x="5" y="126"/>
                      </a:cubicBezTo>
                      <a:cubicBezTo>
                        <a:pt x="7" y="125"/>
                        <a:pt x="9" y="122"/>
                        <a:pt x="8" y="119"/>
                      </a:cubicBezTo>
                      <a:cubicBezTo>
                        <a:pt x="8" y="116"/>
                        <a:pt x="6" y="112"/>
                        <a:pt x="4" y="108"/>
                      </a:cubicBezTo>
                      <a:cubicBezTo>
                        <a:pt x="2" y="104"/>
                        <a:pt x="2" y="100"/>
                        <a:pt x="3" y="97"/>
                      </a:cubicBezTo>
                      <a:cubicBezTo>
                        <a:pt x="5" y="94"/>
                        <a:pt x="8" y="91"/>
                        <a:pt x="8" y="91"/>
                      </a:cubicBezTo>
                      <a:cubicBezTo>
                        <a:pt x="8" y="85"/>
                        <a:pt x="8" y="85"/>
                        <a:pt x="8" y="85"/>
                      </a:cubicBezTo>
                      <a:cubicBezTo>
                        <a:pt x="8" y="85"/>
                        <a:pt x="2" y="81"/>
                        <a:pt x="2" y="76"/>
                      </a:cubicBezTo>
                      <a:cubicBezTo>
                        <a:pt x="2" y="70"/>
                        <a:pt x="3" y="67"/>
                        <a:pt x="5" y="66"/>
                      </a:cubicBezTo>
                      <a:cubicBezTo>
                        <a:pt x="7" y="64"/>
                        <a:pt x="9" y="61"/>
                        <a:pt x="9" y="61"/>
                      </a:cubicBezTo>
                      <a:cubicBezTo>
                        <a:pt x="9" y="61"/>
                        <a:pt x="10" y="57"/>
                        <a:pt x="8" y="54"/>
                      </a:cubicBezTo>
                      <a:cubicBezTo>
                        <a:pt x="7" y="52"/>
                        <a:pt x="3" y="48"/>
                        <a:pt x="2" y="44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6"/>
                        <a:pt x="2" y="14"/>
                        <a:pt x="2" y="11"/>
                      </a:cubicBezTo>
                      <a:cubicBezTo>
                        <a:pt x="2" y="8"/>
                        <a:pt x="2" y="1"/>
                        <a:pt x="2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rgbClr val="325B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3" name="Freeform 7"/>
                <p:cNvSpPr/>
                <p:nvPr/>
              </p:nvSpPr>
              <p:spPr bwMode="auto">
                <a:xfrm>
                  <a:off x="3996676" y="4268788"/>
                  <a:ext cx="350838" cy="49213"/>
                </a:xfrm>
                <a:custGeom>
                  <a:avLst/>
                  <a:gdLst>
                    <a:gd name="T0" fmla="*/ 0 w 94"/>
                    <a:gd name="T1" fmla="*/ 0 h 13"/>
                    <a:gd name="T2" fmla="*/ 94 w 94"/>
                    <a:gd name="T3" fmla="*/ 0 h 13"/>
                    <a:gd name="T4" fmla="*/ 85 w 94"/>
                    <a:gd name="T5" fmla="*/ 9 h 13"/>
                    <a:gd name="T6" fmla="*/ 74 w 94"/>
                    <a:gd name="T7" fmla="*/ 13 h 13"/>
                    <a:gd name="T8" fmla="*/ 19 w 94"/>
                    <a:gd name="T9" fmla="*/ 13 h 13"/>
                    <a:gd name="T10" fmla="*/ 8 w 94"/>
                    <a:gd name="T11" fmla="*/ 9 h 13"/>
                    <a:gd name="T12" fmla="*/ 0 w 94"/>
                    <a:gd name="T1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4" h="13">
                      <a:moveTo>
                        <a:pt x="0" y="0"/>
                      </a:move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94" y="0"/>
                        <a:pt x="88" y="6"/>
                        <a:pt x="85" y="9"/>
                      </a:cubicBezTo>
                      <a:cubicBezTo>
                        <a:pt x="82" y="11"/>
                        <a:pt x="77" y="13"/>
                        <a:pt x="74" y="13"/>
                      </a:cubicBezTo>
                      <a:cubicBezTo>
                        <a:pt x="71" y="13"/>
                        <a:pt x="19" y="13"/>
                        <a:pt x="19" y="13"/>
                      </a:cubicBezTo>
                      <a:cubicBezTo>
                        <a:pt x="19" y="13"/>
                        <a:pt x="11" y="13"/>
                        <a:pt x="8" y="9"/>
                      </a:cubicBezTo>
                      <a:cubicBezTo>
                        <a:pt x="5" y="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2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" name="Freeform 8"/>
                <p:cNvSpPr/>
                <p:nvPr/>
              </p:nvSpPr>
              <p:spPr bwMode="auto">
                <a:xfrm>
                  <a:off x="4173538" y="3527425"/>
                  <a:ext cx="247650" cy="33338"/>
                </a:xfrm>
                <a:custGeom>
                  <a:avLst/>
                  <a:gdLst>
                    <a:gd name="T0" fmla="*/ 4 w 66"/>
                    <a:gd name="T1" fmla="*/ 1 h 9"/>
                    <a:gd name="T2" fmla="*/ 64 w 66"/>
                    <a:gd name="T3" fmla="*/ 1 h 9"/>
                    <a:gd name="T4" fmla="*/ 62 w 66"/>
                    <a:gd name="T5" fmla="*/ 7 h 9"/>
                    <a:gd name="T6" fmla="*/ 0 w 66"/>
                    <a:gd name="T7" fmla="*/ 9 h 9"/>
                    <a:gd name="T8" fmla="*/ 20 w 66"/>
                    <a:gd name="T9" fmla="*/ 5 h 9"/>
                    <a:gd name="T10" fmla="*/ 17 w 66"/>
                    <a:gd name="T11" fmla="*/ 3 h 9"/>
                    <a:gd name="T12" fmla="*/ 4 w 66"/>
                    <a:gd name="T13" fmla="*/ 1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9">
                      <a:moveTo>
                        <a:pt x="4" y="1"/>
                      </a:moveTo>
                      <a:cubicBezTo>
                        <a:pt x="4" y="1"/>
                        <a:pt x="62" y="0"/>
                        <a:pt x="64" y="1"/>
                      </a:cubicBezTo>
                      <a:cubicBezTo>
                        <a:pt x="66" y="3"/>
                        <a:pt x="66" y="5"/>
                        <a:pt x="62" y="7"/>
                      </a:cubicBezTo>
                      <a:cubicBezTo>
                        <a:pt x="58" y="8"/>
                        <a:pt x="0" y="9"/>
                        <a:pt x="0" y="9"/>
                      </a:cubicBezTo>
                      <a:cubicBezTo>
                        <a:pt x="0" y="9"/>
                        <a:pt x="20" y="7"/>
                        <a:pt x="20" y="5"/>
                      </a:cubicBezTo>
                      <a:cubicBezTo>
                        <a:pt x="20" y="3"/>
                        <a:pt x="21" y="4"/>
                        <a:pt x="17" y="3"/>
                      </a:cubicBezTo>
                      <a:cubicBezTo>
                        <a:pt x="13" y="3"/>
                        <a:pt x="4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5" name="Freeform 9"/>
                <p:cNvSpPr/>
                <p:nvPr/>
              </p:nvSpPr>
              <p:spPr bwMode="auto">
                <a:xfrm>
                  <a:off x="4173538" y="3571875"/>
                  <a:ext cx="242888" cy="93663"/>
                </a:xfrm>
                <a:custGeom>
                  <a:avLst/>
                  <a:gdLst>
                    <a:gd name="T0" fmla="*/ 11 w 65"/>
                    <a:gd name="T1" fmla="*/ 0 h 25"/>
                    <a:gd name="T2" fmla="*/ 60 w 65"/>
                    <a:gd name="T3" fmla="*/ 1 h 25"/>
                    <a:gd name="T4" fmla="*/ 65 w 65"/>
                    <a:gd name="T5" fmla="*/ 10 h 25"/>
                    <a:gd name="T6" fmla="*/ 57 w 65"/>
                    <a:gd name="T7" fmla="*/ 21 h 25"/>
                    <a:gd name="T8" fmla="*/ 0 w 65"/>
                    <a:gd name="T9" fmla="*/ 25 h 25"/>
                    <a:gd name="T10" fmla="*/ 21 w 65"/>
                    <a:gd name="T11" fmla="*/ 20 h 25"/>
                    <a:gd name="T12" fmla="*/ 22 w 65"/>
                    <a:gd name="T13" fmla="*/ 12 h 25"/>
                    <a:gd name="T14" fmla="*/ 23 w 65"/>
                    <a:gd name="T15" fmla="*/ 6 h 25"/>
                    <a:gd name="T16" fmla="*/ 23 w 65"/>
                    <a:gd name="T17" fmla="*/ 3 h 25"/>
                    <a:gd name="T18" fmla="*/ 11 w 65"/>
                    <a:gd name="T1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5" h="25">
                      <a:moveTo>
                        <a:pt x="11" y="0"/>
                      </a:moveTo>
                      <a:cubicBezTo>
                        <a:pt x="11" y="0"/>
                        <a:pt x="58" y="0"/>
                        <a:pt x="60" y="1"/>
                      </a:cubicBezTo>
                      <a:cubicBezTo>
                        <a:pt x="63" y="2"/>
                        <a:pt x="65" y="7"/>
                        <a:pt x="65" y="10"/>
                      </a:cubicBezTo>
                      <a:cubicBezTo>
                        <a:pt x="65" y="14"/>
                        <a:pt x="65" y="19"/>
                        <a:pt x="57" y="21"/>
                      </a:cubicBezTo>
                      <a:cubicBezTo>
                        <a:pt x="49" y="23"/>
                        <a:pt x="0" y="25"/>
                        <a:pt x="0" y="25"/>
                      </a:cubicBezTo>
                      <a:cubicBezTo>
                        <a:pt x="0" y="25"/>
                        <a:pt x="20" y="22"/>
                        <a:pt x="21" y="20"/>
                      </a:cubicBezTo>
                      <a:cubicBezTo>
                        <a:pt x="23" y="18"/>
                        <a:pt x="21" y="14"/>
                        <a:pt x="22" y="12"/>
                      </a:cubicBezTo>
                      <a:cubicBezTo>
                        <a:pt x="23" y="10"/>
                        <a:pt x="24" y="10"/>
                        <a:pt x="23" y="6"/>
                      </a:cubicBezTo>
                      <a:cubicBezTo>
                        <a:pt x="23" y="3"/>
                        <a:pt x="23" y="3"/>
                        <a:pt x="23" y="3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" name="Freeform 10"/>
                <p:cNvSpPr/>
                <p:nvPr/>
              </p:nvSpPr>
              <p:spPr bwMode="auto">
                <a:xfrm>
                  <a:off x="4106863" y="3698875"/>
                  <a:ext cx="303213" cy="34925"/>
                </a:xfrm>
                <a:custGeom>
                  <a:avLst/>
                  <a:gdLst>
                    <a:gd name="T0" fmla="*/ 20 w 81"/>
                    <a:gd name="T1" fmla="*/ 1 h 9"/>
                    <a:gd name="T2" fmla="*/ 73 w 81"/>
                    <a:gd name="T3" fmla="*/ 0 h 9"/>
                    <a:gd name="T4" fmla="*/ 80 w 81"/>
                    <a:gd name="T5" fmla="*/ 3 h 9"/>
                    <a:gd name="T6" fmla="*/ 3 w 81"/>
                    <a:gd name="T7" fmla="*/ 9 h 9"/>
                    <a:gd name="T8" fmla="*/ 24 w 81"/>
                    <a:gd name="T9" fmla="*/ 5 h 9"/>
                    <a:gd name="T10" fmla="*/ 20 w 81"/>
                    <a:gd name="T11" fmla="*/ 1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1" h="9">
                      <a:moveTo>
                        <a:pt x="20" y="1"/>
                      </a:moveTo>
                      <a:cubicBezTo>
                        <a:pt x="20" y="1"/>
                        <a:pt x="66" y="0"/>
                        <a:pt x="73" y="0"/>
                      </a:cubicBezTo>
                      <a:cubicBezTo>
                        <a:pt x="81" y="0"/>
                        <a:pt x="81" y="3"/>
                        <a:pt x="80" y="3"/>
                      </a:cubicBezTo>
                      <a:cubicBezTo>
                        <a:pt x="78" y="4"/>
                        <a:pt x="5" y="9"/>
                        <a:pt x="3" y="9"/>
                      </a:cubicBezTo>
                      <a:cubicBezTo>
                        <a:pt x="0" y="9"/>
                        <a:pt x="21" y="6"/>
                        <a:pt x="24" y="5"/>
                      </a:cubicBezTo>
                      <a:cubicBezTo>
                        <a:pt x="27" y="4"/>
                        <a:pt x="26" y="2"/>
                        <a:pt x="2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7" name="Freeform 11"/>
                <p:cNvSpPr/>
                <p:nvPr/>
              </p:nvSpPr>
              <p:spPr bwMode="auto">
                <a:xfrm>
                  <a:off x="4140201" y="3756025"/>
                  <a:ext cx="269875" cy="25400"/>
                </a:xfrm>
                <a:custGeom>
                  <a:avLst/>
                  <a:gdLst>
                    <a:gd name="T0" fmla="*/ 26 w 72"/>
                    <a:gd name="T1" fmla="*/ 1 h 7"/>
                    <a:gd name="T2" fmla="*/ 72 w 72"/>
                    <a:gd name="T3" fmla="*/ 0 h 7"/>
                    <a:gd name="T4" fmla="*/ 49 w 72"/>
                    <a:gd name="T5" fmla="*/ 5 h 7"/>
                    <a:gd name="T6" fmla="*/ 4 w 72"/>
                    <a:gd name="T7" fmla="*/ 7 h 7"/>
                    <a:gd name="T8" fmla="*/ 26 w 72"/>
                    <a:gd name="T9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2" h="7">
                      <a:moveTo>
                        <a:pt x="26" y="1"/>
                      </a:move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2" y="0"/>
                        <a:pt x="51" y="5"/>
                        <a:pt x="49" y="5"/>
                      </a:cubicBezTo>
                      <a:cubicBezTo>
                        <a:pt x="47" y="5"/>
                        <a:pt x="9" y="7"/>
                        <a:pt x="4" y="7"/>
                      </a:cubicBezTo>
                      <a:cubicBezTo>
                        <a:pt x="0" y="7"/>
                        <a:pt x="35" y="3"/>
                        <a:pt x="2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8" name="Freeform 12"/>
                <p:cNvSpPr/>
                <p:nvPr/>
              </p:nvSpPr>
              <p:spPr bwMode="auto">
                <a:xfrm>
                  <a:off x="4125913" y="3811588"/>
                  <a:ext cx="287338" cy="38100"/>
                </a:xfrm>
                <a:custGeom>
                  <a:avLst/>
                  <a:gdLst>
                    <a:gd name="T0" fmla="*/ 15 w 77"/>
                    <a:gd name="T1" fmla="*/ 2 h 10"/>
                    <a:gd name="T2" fmla="*/ 73 w 77"/>
                    <a:gd name="T3" fmla="*/ 0 h 10"/>
                    <a:gd name="T4" fmla="*/ 72 w 77"/>
                    <a:gd name="T5" fmla="*/ 5 h 10"/>
                    <a:gd name="T6" fmla="*/ 0 w 77"/>
                    <a:gd name="T7" fmla="*/ 10 h 10"/>
                    <a:gd name="T8" fmla="*/ 31 w 77"/>
                    <a:gd name="T9" fmla="*/ 5 h 10"/>
                    <a:gd name="T10" fmla="*/ 15 w 77"/>
                    <a:gd name="T11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7" h="10">
                      <a:moveTo>
                        <a:pt x="15" y="2"/>
                      </a:moveTo>
                      <a:cubicBezTo>
                        <a:pt x="15" y="2"/>
                        <a:pt x="69" y="0"/>
                        <a:pt x="73" y="0"/>
                      </a:cubicBezTo>
                      <a:cubicBezTo>
                        <a:pt x="77" y="0"/>
                        <a:pt x="75" y="4"/>
                        <a:pt x="72" y="5"/>
                      </a:cubicBezTo>
                      <a:cubicBezTo>
                        <a:pt x="68" y="6"/>
                        <a:pt x="0" y="10"/>
                        <a:pt x="0" y="10"/>
                      </a:cubicBezTo>
                      <a:cubicBezTo>
                        <a:pt x="0" y="10"/>
                        <a:pt x="29" y="6"/>
                        <a:pt x="31" y="5"/>
                      </a:cubicBezTo>
                      <a:cubicBezTo>
                        <a:pt x="32" y="4"/>
                        <a:pt x="15" y="2"/>
                        <a:pt x="1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9" name="Freeform 13"/>
                <p:cNvSpPr/>
                <p:nvPr/>
              </p:nvSpPr>
              <p:spPr bwMode="auto">
                <a:xfrm>
                  <a:off x="4195763" y="3868738"/>
                  <a:ext cx="217488" cy="33338"/>
                </a:xfrm>
                <a:custGeom>
                  <a:avLst/>
                  <a:gdLst>
                    <a:gd name="T0" fmla="*/ 0 w 58"/>
                    <a:gd name="T1" fmla="*/ 4 h 9"/>
                    <a:gd name="T2" fmla="*/ 56 w 58"/>
                    <a:gd name="T3" fmla="*/ 0 h 9"/>
                    <a:gd name="T4" fmla="*/ 0 w 58"/>
                    <a:gd name="T5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8" h="9">
                      <a:moveTo>
                        <a:pt x="0" y="4"/>
                      </a:moveTo>
                      <a:cubicBezTo>
                        <a:pt x="0" y="4"/>
                        <a:pt x="55" y="0"/>
                        <a:pt x="56" y="0"/>
                      </a:cubicBezTo>
                      <a:cubicBezTo>
                        <a:pt x="58" y="0"/>
                        <a:pt x="22" y="9"/>
                        <a:pt x="0" y="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" name="Freeform 14"/>
                <p:cNvSpPr/>
                <p:nvPr/>
              </p:nvSpPr>
              <p:spPr bwMode="auto">
                <a:xfrm>
                  <a:off x="4117976" y="3935413"/>
                  <a:ext cx="280988" cy="30163"/>
                </a:xfrm>
                <a:custGeom>
                  <a:avLst/>
                  <a:gdLst>
                    <a:gd name="T0" fmla="*/ 23 w 75"/>
                    <a:gd name="T1" fmla="*/ 0 h 8"/>
                    <a:gd name="T2" fmla="*/ 71 w 75"/>
                    <a:gd name="T3" fmla="*/ 0 h 8"/>
                    <a:gd name="T4" fmla="*/ 65 w 75"/>
                    <a:gd name="T5" fmla="*/ 4 h 8"/>
                    <a:gd name="T6" fmla="*/ 0 w 75"/>
                    <a:gd name="T7" fmla="*/ 8 h 8"/>
                    <a:gd name="T8" fmla="*/ 31 w 75"/>
                    <a:gd name="T9" fmla="*/ 3 h 8"/>
                    <a:gd name="T10" fmla="*/ 23 w 75"/>
                    <a:gd name="T11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" h="8">
                      <a:moveTo>
                        <a:pt x="23" y="0"/>
                      </a:moveTo>
                      <a:cubicBezTo>
                        <a:pt x="23" y="0"/>
                        <a:pt x="67" y="0"/>
                        <a:pt x="71" y="0"/>
                      </a:cubicBezTo>
                      <a:cubicBezTo>
                        <a:pt x="75" y="1"/>
                        <a:pt x="68" y="3"/>
                        <a:pt x="65" y="4"/>
                      </a:cubicBezTo>
                      <a:cubicBezTo>
                        <a:pt x="62" y="5"/>
                        <a:pt x="0" y="8"/>
                        <a:pt x="0" y="8"/>
                      </a:cubicBezTo>
                      <a:cubicBezTo>
                        <a:pt x="0" y="8"/>
                        <a:pt x="28" y="4"/>
                        <a:pt x="31" y="3"/>
                      </a:cubicBezTo>
                      <a:cubicBezTo>
                        <a:pt x="33" y="3"/>
                        <a:pt x="33" y="3"/>
                        <a:pt x="2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" name="Freeform 15"/>
                <p:cNvSpPr/>
                <p:nvPr/>
              </p:nvSpPr>
              <p:spPr bwMode="auto">
                <a:xfrm>
                  <a:off x="4206876" y="3984625"/>
                  <a:ext cx="206375" cy="25400"/>
                </a:xfrm>
                <a:custGeom>
                  <a:avLst/>
                  <a:gdLst>
                    <a:gd name="T0" fmla="*/ 0 w 55"/>
                    <a:gd name="T1" fmla="*/ 3 h 7"/>
                    <a:gd name="T2" fmla="*/ 53 w 55"/>
                    <a:gd name="T3" fmla="*/ 0 h 7"/>
                    <a:gd name="T4" fmla="*/ 0 w 55"/>
                    <a:gd name="T5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5" h="7">
                      <a:moveTo>
                        <a:pt x="0" y="3"/>
                      </a:moveTo>
                      <a:cubicBezTo>
                        <a:pt x="0" y="3"/>
                        <a:pt x="51" y="0"/>
                        <a:pt x="53" y="0"/>
                      </a:cubicBezTo>
                      <a:cubicBezTo>
                        <a:pt x="55" y="0"/>
                        <a:pt x="28" y="7"/>
                        <a:pt x="0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4222751" y="4044949"/>
                  <a:ext cx="160338" cy="28576"/>
                </a:xfrm>
                <a:custGeom>
                  <a:avLst/>
                  <a:gdLst>
                    <a:gd name="T0" fmla="*/ 0 w 43"/>
                    <a:gd name="T1" fmla="*/ 2 h 8"/>
                    <a:gd name="T2" fmla="*/ 41 w 43"/>
                    <a:gd name="T3" fmla="*/ 1 h 8"/>
                    <a:gd name="T4" fmla="*/ 26 w 43"/>
                    <a:gd name="T5" fmla="*/ 7 h 8"/>
                    <a:gd name="T6" fmla="*/ 0 w 43"/>
                    <a:gd name="T7" fmla="*/ 2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" h="8">
                      <a:moveTo>
                        <a:pt x="0" y="2"/>
                      </a:moveTo>
                      <a:cubicBezTo>
                        <a:pt x="0" y="2"/>
                        <a:pt x="38" y="0"/>
                        <a:pt x="41" y="1"/>
                      </a:cubicBezTo>
                      <a:cubicBezTo>
                        <a:pt x="43" y="1"/>
                        <a:pt x="31" y="5"/>
                        <a:pt x="26" y="7"/>
                      </a:cubicBezTo>
                      <a:cubicBezTo>
                        <a:pt x="20" y="8"/>
                        <a:pt x="12" y="7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4151313" y="4070350"/>
                  <a:ext cx="314325" cy="30163"/>
                </a:xfrm>
                <a:custGeom>
                  <a:avLst/>
                  <a:gdLst>
                    <a:gd name="T0" fmla="*/ 0 w 84"/>
                    <a:gd name="T1" fmla="*/ 5 h 8"/>
                    <a:gd name="T2" fmla="*/ 84 w 84"/>
                    <a:gd name="T3" fmla="*/ 0 h 8"/>
                    <a:gd name="T4" fmla="*/ 32 w 84"/>
                    <a:gd name="T5" fmla="*/ 8 h 8"/>
                    <a:gd name="T6" fmla="*/ 0 w 84"/>
                    <a:gd name="T7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4" h="8">
                      <a:moveTo>
                        <a:pt x="0" y="5"/>
                      </a:moveTo>
                      <a:cubicBezTo>
                        <a:pt x="0" y="5"/>
                        <a:pt x="76" y="2"/>
                        <a:pt x="84" y="0"/>
                      </a:cubicBezTo>
                      <a:cubicBezTo>
                        <a:pt x="84" y="0"/>
                        <a:pt x="75" y="6"/>
                        <a:pt x="32" y="8"/>
                      </a:cubicBezTo>
                      <a:cubicBezTo>
                        <a:pt x="32" y="8"/>
                        <a:pt x="9" y="7"/>
                        <a:pt x="0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4" name="Freeform 18"/>
                <p:cNvSpPr/>
                <p:nvPr/>
              </p:nvSpPr>
              <p:spPr bwMode="auto">
                <a:xfrm>
                  <a:off x="4514851" y="3703638"/>
                  <a:ext cx="36513" cy="22225"/>
                </a:xfrm>
                <a:custGeom>
                  <a:avLst/>
                  <a:gdLst>
                    <a:gd name="T0" fmla="*/ 7 w 10"/>
                    <a:gd name="T1" fmla="*/ 0 h 6"/>
                    <a:gd name="T2" fmla="*/ 0 w 10"/>
                    <a:gd name="T3" fmla="*/ 6 h 6"/>
                    <a:gd name="T4" fmla="*/ 7 w 10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6">
                      <a:moveTo>
                        <a:pt x="7" y="0"/>
                      </a:moveTo>
                      <a:cubicBezTo>
                        <a:pt x="7" y="0"/>
                        <a:pt x="10" y="5"/>
                        <a:pt x="0" y="6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" name="Freeform 19"/>
                <p:cNvSpPr/>
                <p:nvPr/>
              </p:nvSpPr>
              <p:spPr bwMode="auto">
                <a:xfrm>
                  <a:off x="4510088" y="3579813"/>
                  <a:ext cx="41275" cy="19050"/>
                </a:xfrm>
                <a:custGeom>
                  <a:avLst/>
                  <a:gdLst>
                    <a:gd name="T0" fmla="*/ 8 w 11"/>
                    <a:gd name="T1" fmla="*/ 0 h 5"/>
                    <a:gd name="T2" fmla="*/ 0 w 11"/>
                    <a:gd name="T3" fmla="*/ 5 h 5"/>
                    <a:gd name="T4" fmla="*/ 8 w 11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5">
                      <a:moveTo>
                        <a:pt x="8" y="0"/>
                      </a:moveTo>
                      <a:cubicBezTo>
                        <a:pt x="8" y="0"/>
                        <a:pt x="11" y="4"/>
                        <a:pt x="0" y="5"/>
                      </a:cubicBez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6" name="Freeform 20"/>
                <p:cNvSpPr/>
                <p:nvPr/>
              </p:nvSpPr>
              <p:spPr bwMode="auto">
                <a:xfrm>
                  <a:off x="4495801" y="3819525"/>
                  <a:ext cx="55563" cy="19050"/>
                </a:xfrm>
                <a:custGeom>
                  <a:avLst/>
                  <a:gdLst>
                    <a:gd name="T0" fmla="*/ 11 w 15"/>
                    <a:gd name="T1" fmla="*/ 0 h 5"/>
                    <a:gd name="T2" fmla="*/ 0 w 15"/>
                    <a:gd name="T3" fmla="*/ 5 h 5"/>
                    <a:gd name="T4" fmla="*/ 11 w 15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" h="5">
                      <a:moveTo>
                        <a:pt x="11" y="0"/>
                      </a:moveTo>
                      <a:cubicBezTo>
                        <a:pt x="11" y="0"/>
                        <a:pt x="15" y="4"/>
                        <a:pt x="0" y="5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7" name="Freeform 21"/>
                <p:cNvSpPr/>
                <p:nvPr/>
              </p:nvSpPr>
              <p:spPr bwMode="auto">
                <a:xfrm>
                  <a:off x="4498976" y="3894138"/>
                  <a:ext cx="46038" cy="57150"/>
                </a:xfrm>
                <a:custGeom>
                  <a:avLst/>
                  <a:gdLst>
                    <a:gd name="T0" fmla="*/ 6 w 12"/>
                    <a:gd name="T1" fmla="*/ 0 h 15"/>
                    <a:gd name="T2" fmla="*/ 7 w 12"/>
                    <a:gd name="T3" fmla="*/ 6 h 15"/>
                    <a:gd name="T4" fmla="*/ 12 w 12"/>
                    <a:gd name="T5" fmla="*/ 12 h 15"/>
                    <a:gd name="T6" fmla="*/ 0 w 12"/>
                    <a:gd name="T7" fmla="*/ 14 h 15"/>
                    <a:gd name="T8" fmla="*/ 6 w 12"/>
                    <a:gd name="T9" fmla="*/ 10 h 15"/>
                    <a:gd name="T10" fmla="*/ 6 w 12"/>
                    <a:gd name="T11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" h="15">
                      <a:moveTo>
                        <a:pt x="6" y="0"/>
                      </a:moveTo>
                      <a:cubicBezTo>
                        <a:pt x="6" y="0"/>
                        <a:pt x="6" y="5"/>
                        <a:pt x="7" y="6"/>
                      </a:cubicBezTo>
                      <a:cubicBezTo>
                        <a:pt x="8" y="7"/>
                        <a:pt x="12" y="12"/>
                        <a:pt x="12" y="12"/>
                      </a:cubicBezTo>
                      <a:cubicBezTo>
                        <a:pt x="12" y="12"/>
                        <a:pt x="3" y="15"/>
                        <a:pt x="0" y="14"/>
                      </a:cubicBezTo>
                      <a:cubicBezTo>
                        <a:pt x="0" y="14"/>
                        <a:pt x="5" y="12"/>
                        <a:pt x="6" y="10"/>
                      </a:cubicBezTo>
                      <a:cubicBezTo>
                        <a:pt x="6" y="9"/>
                        <a:pt x="5" y="1"/>
                        <a:pt x="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8" name="Freeform 22"/>
                <p:cNvSpPr/>
                <p:nvPr/>
              </p:nvSpPr>
              <p:spPr bwMode="auto">
                <a:xfrm>
                  <a:off x="4518026" y="4037013"/>
                  <a:ext cx="22225" cy="19050"/>
                </a:xfrm>
                <a:custGeom>
                  <a:avLst/>
                  <a:gdLst>
                    <a:gd name="T0" fmla="*/ 3 w 6"/>
                    <a:gd name="T1" fmla="*/ 0 h 5"/>
                    <a:gd name="T2" fmla="*/ 0 w 6"/>
                    <a:gd name="T3" fmla="*/ 5 h 5"/>
                    <a:gd name="T4" fmla="*/ 3 w 6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3" y="0"/>
                      </a:moveTo>
                      <a:cubicBezTo>
                        <a:pt x="3" y="0"/>
                        <a:pt x="6" y="4"/>
                        <a:pt x="0" y="5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9" name="Freeform 23"/>
                <p:cNvSpPr/>
                <p:nvPr/>
              </p:nvSpPr>
              <p:spPr bwMode="auto">
                <a:xfrm>
                  <a:off x="3814763" y="3557588"/>
                  <a:ext cx="206375" cy="22225"/>
                </a:xfrm>
                <a:custGeom>
                  <a:avLst/>
                  <a:gdLst>
                    <a:gd name="T0" fmla="*/ 0 w 55"/>
                    <a:gd name="T1" fmla="*/ 0 h 6"/>
                    <a:gd name="T2" fmla="*/ 55 w 55"/>
                    <a:gd name="T3" fmla="*/ 3 h 6"/>
                    <a:gd name="T4" fmla="*/ 0 w 55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5" h="6">
                      <a:moveTo>
                        <a:pt x="0" y="0"/>
                      </a:move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15" y="6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0" name="Freeform 24"/>
                <p:cNvSpPr/>
                <p:nvPr/>
              </p:nvSpPr>
              <p:spPr bwMode="auto">
                <a:xfrm>
                  <a:off x="3762376" y="3744913"/>
                  <a:ext cx="71438" cy="17463"/>
                </a:xfrm>
                <a:custGeom>
                  <a:avLst/>
                  <a:gdLst>
                    <a:gd name="T0" fmla="*/ 7 w 19"/>
                    <a:gd name="T1" fmla="*/ 0 h 5"/>
                    <a:gd name="T2" fmla="*/ 19 w 19"/>
                    <a:gd name="T3" fmla="*/ 1 h 5"/>
                    <a:gd name="T4" fmla="*/ 4 w 19"/>
                    <a:gd name="T5" fmla="*/ 4 h 5"/>
                    <a:gd name="T6" fmla="*/ 7 w 19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5">
                      <a:moveTo>
                        <a:pt x="7" y="0"/>
                      </a:move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9" y="1"/>
                        <a:pt x="7" y="4"/>
                        <a:pt x="4" y="4"/>
                      </a:cubicBezTo>
                      <a:cubicBezTo>
                        <a:pt x="0" y="5"/>
                        <a:pt x="7" y="0"/>
                        <a:pt x="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1" name="Freeform 25"/>
                <p:cNvSpPr/>
                <p:nvPr/>
              </p:nvSpPr>
              <p:spPr bwMode="auto">
                <a:xfrm>
                  <a:off x="3762376" y="3857625"/>
                  <a:ext cx="74613" cy="14288"/>
                </a:xfrm>
                <a:custGeom>
                  <a:avLst/>
                  <a:gdLst>
                    <a:gd name="T0" fmla="*/ 6 w 20"/>
                    <a:gd name="T1" fmla="*/ 0 h 4"/>
                    <a:gd name="T2" fmla="*/ 20 w 20"/>
                    <a:gd name="T3" fmla="*/ 0 h 4"/>
                    <a:gd name="T4" fmla="*/ 2 w 20"/>
                    <a:gd name="T5" fmla="*/ 4 h 4"/>
                    <a:gd name="T6" fmla="*/ 6 w 20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4">
                      <a:moveTo>
                        <a:pt x="6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0"/>
                        <a:pt x="4" y="4"/>
                        <a:pt x="2" y="4"/>
                      </a:cubicBezTo>
                      <a:cubicBezTo>
                        <a:pt x="0" y="4"/>
                        <a:pt x="6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2" name="Freeform 26"/>
                <p:cNvSpPr/>
                <p:nvPr/>
              </p:nvSpPr>
              <p:spPr bwMode="auto">
                <a:xfrm>
                  <a:off x="3759201" y="3979863"/>
                  <a:ext cx="74613" cy="19050"/>
                </a:xfrm>
                <a:custGeom>
                  <a:avLst/>
                  <a:gdLst>
                    <a:gd name="T0" fmla="*/ 6 w 20"/>
                    <a:gd name="T1" fmla="*/ 0 h 5"/>
                    <a:gd name="T2" fmla="*/ 20 w 20"/>
                    <a:gd name="T3" fmla="*/ 1 h 5"/>
                    <a:gd name="T4" fmla="*/ 2 w 20"/>
                    <a:gd name="T5" fmla="*/ 5 h 5"/>
                    <a:gd name="T6" fmla="*/ 6 w 20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5">
                      <a:moveTo>
                        <a:pt x="6" y="0"/>
                      </a:moveTo>
                      <a:cubicBezTo>
                        <a:pt x="20" y="1"/>
                        <a:pt x="20" y="1"/>
                        <a:pt x="20" y="1"/>
                      </a:cubicBezTo>
                      <a:cubicBezTo>
                        <a:pt x="20" y="1"/>
                        <a:pt x="3" y="5"/>
                        <a:pt x="2" y="5"/>
                      </a:cubicBezTo>
                      <a:cubicBezTo>
                        <a:pt x="0" y="5"/>
                        <a:pt x="6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3" name="Freeform 27"/>
                <p:cNvSpPr/>
                <p:nvPr/>
              </p:nvSpPr>
              <p:spPr bwMode="auto">
                <a:xfrm>
                  <a:off x="3822701" y="4086225"/>
                  <a:ext cx="268288" cy="33338"/>
                </a:xfrm>
                <a:custGeom>
                  <a:avLst/>
                  <a:gdLst>
                    <a:gd name="T0" fmla="*/ 0 w 72"/>
                    <a:gd name="T1" fmla="*/ 0 h 9"/>
                    <a:gd name="T2" fmla="*/ 68 w 72"/>
                    <a:gd name="T3" fmla="*/ 1 h 9"/>
                    <a:gd name="T4" fmla="*/ 0 w 72"/>
                    <a:gd name="T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" h="9">
                      <a:moveTo>
                        <a:pt x="0" y="0"/>
                      </a:moveTo>
                      <a:cubicBezTo>
                        <a:pt x="0" y="0"/>
                        <a:pt x="65" y="2"/>
                        <a:pt x="68" y="1"/>
                      </a:cubicBezTo>
                      <a:cubicBezTo>
                        <a:pt x="72" y="1"/>
                        <a:pt x="24" y="9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4" name="Freeform 28"/>
                <p:cNvSpPr/>
                <p:nvPr/>
              </p:nvSpPr>
              <p:spPr bwMode="auto">
                <a:xfrm>
                  <a:off x="4300538" y="4114800"/>
                  <a:ext cx="134938" cy="120650"/>
                </a:xfrm>
                <a:custGeom>
                  <a:avLst/>
                  <a:gdLst>
                    <a:gd name="T0" fmla="*/ 36 w 36"/>
                    <a:gd name="T1" fmla="*/ 0 h 32"/>
                    <a:gd name="T2" fmla="*/ 3 w 36"/>
                    <a:gd name="T3" fmla="*/ 31 h 32"/>
                    <a:gd name="T4" fmla="*/ 36 w 36"/>
                    <a:gd name="T5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6" h="32">
                      <a:moveTo>
                        <a:pt x="36" y="0"/>
                      </a:moveTo>
                      <a:cubicBezTo>
                        <a:pt x="36" y="0"/>
                        <a:pt x="5" y="30"/>
                        <a:pt x="3" y="31"/>
                      </a:cubicBezTo>
                      <a:cubicBezTo>
                        <a:pt x="0" y="32"/>
                        <a:pt x="21" y="8"/>
                        <a:pt x="3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09728" tIns="54864" rIns="109728" bIns="54864" numCol="1" anchor="t" anchorCtr="0" compatLnSpc="1"/>
                <a:lstStyle/>
                <a:p>
                  <a:pPr defTabSz="146240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6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65" name="Group 37"/>
            <p:cNvGrpSpPr>
              <a:grpSpLocks noChangeAspect="1"/>
            </p:cNvGrpSpPr>
            <p:nvPr/>
          </p:nvGrpSpPr>
          <p:grpSpPr bwMode="auto">
            <a:xfrm>
              <a:off x="5854670" y="1649009"/>
              <a:ext cx="2649976" cy="3206380"/>
              <a:chOff x="2250" y="790"/>
              <a:chExt cx="1205" cy="1458"/>
            </a:xfrm>
            <a:solidFill>
              <a:srgbClr val="325B7F"/>
            </a:solidFill>
          </p:grpSpPr>
          <p:sp>
            <p:nvSpPr>
              <p:cNvPr id="66" name="Rectangle 38"/>
              <p:cNvSpPr>
                <a:spLocks noChangeArrowheads="1"/>
              </p:cNvSpPr>
              <p:nvPr/>
            </p:nvSpPr>
            <p:spPr bwMode="auto">
              <a:xfrm>
                <a:off x="2847" y="1827"/>
                <a:ext cx="12" cy="36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39"/>
              <p:cNvSpPr/>
              <p:nvPr/>
            </p:nvSpPr>
            <p:spPr bwMode="auto">
              <a:xfrm>
                <a:off x="2852" y="2189"/>
                <a:ext cx="170" cy="19"/>
              </a:xfrm>
              <a:custGeom>
                <a:avLst/>
                <a:gdLst>
                  <a:gd name="T0" fmla="*/ 170 w 170"/>
                  <a:gd name="T1" fmla="*/ 19 h 19"/>
                  <a:gd name="T2" fmla="*/ 0 w 170"/>
                  <a:gd name="T3" fmla="*/ 12 h 19"/>
                  <a:gd name="T4" fmla="*/ 0 w 170"/>
                  <a:gd name="T5" fmla="*/ 0 h 19"/>
                  <a:gd name="T6" fmla="*/ 170 w 170"/>
                  <a:gd name="T7" fmla="*/ 7 h 19"/>
                  <a:gd name="T8" fmla="*/ 170 w 170"/>
                  <a:gd name="T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0" h="19">
                    <a:moveTo>
                      <a:pt x="170" y="19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170" y="7"/>
                    </a:lnTo>
                    <a:lnTo>
                      <a:pt x="170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40"/>
              <p:cNvSpPr/>
              <p:nvPr/>
            </p:nvSpPr>
            <p:spPr bwMode="auto">
              <a:xfrm>
                <a:off x="2725" y="2028"/>
                <a:ext cx="130" cy="170"/>
              </a:xfrm>
              <a:custGeom>
                <a:avLst/>
                <a:gdLst>
                  <a:gd name="T0" fmla="*/ 120 w 130"/>
                  <a:gd name="T1" fmla="*/ 170 h 170"/>
                  <a:gd name="T2" fmla="*/ 0 w 130"/>
                  <a:gd name="T3" fmla="*/ 7 h 170"/>
                  <a:gd name="T4" fmla="*/ 9 w 130"/>
                  <a:gd name="T5" fmla="*/ 0 h 170"/>
                  <a:gd name="T6" fmla="*/ 130 w 130"/>
                  <a:gd name="T7" fmla="*/ 163 h 170"/>
                  <a:gd name="T8" fmla="*/ 120 w 130"/>
                  <a:gd name="T9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170">
                    <a:moveTo>
                      <a:pt x="120" y="170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130" y="163"/>
                    </a:lnTo>
                    <a:lnTo>
                      <a:pt x="120" y="1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41"/>
              <p:cNvSpPr/>
              <p:nvPr/>
            </p:nvSpPr>
            <p:spPr bwMode="auto">
              <a:xfrm>
                <a:off x="2845" y="2047"/>
                <a:ext cx="191" cy="151"/>
              </a:xfrm>
              <a:custGeom>
                <a:avLst/>
                <a:gdLst>
                  <a:gd name="T0" fmla="*/ 7 w 191"/>
                  <a:gd name="T1" fmla="*/ 151 h 151"/>
                  <a:gd name="T2" fmla="*/ 0 w 191"/>
                  <a:gd name="T3" fmla="*/ 142 h 151"/>
                  <a:gd name="T4" fmla="*/ 184 w 191"/>
                  <a:gd name="T5" fmla="*/ 0 h 151"/>
                  <a:gd name="T6" fmla="*/ 191 w 191"/>
                  <a:gd name="T7" fmla="*/ 10 h 151"/>
                  <a:gd name="T8" fmla="*/ 7 w 191"/>
                  <a:gd name="T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51">
                    <a:moveTo>
                      <a:pt x="7" y="151"/>
                    </a:moveTo>
                    <a:lnTo>
                      <a:pt x="0" y="142"/>
                    </a:lnTo>
                    <a:lnTo>
                      <a:pt x="184" y="0"/>
                    </a:lnTo>
                    <a:lnTo>
                      <a:pt x="191" y="10"/>
                    </a:lnTo>
                    <a:lnTo>
                      <a:pt x="7" y="1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42"/>
              <p:cNvSpPr/>
              <p:nvPr/>
            </p:nvSpPr>
            <p:spPr bwMode="auto">
              <a:xfrm>
                <a:off x="2585" y="2191"/>
                <a:ext cx="265" cy="19"/>
              </a:xfrm>
              <a:custGeom>
                <a:avLst/>
                <a:gdLst>
                  <a:gd name="T0" fmla="*/ 0 w 265"/>
                  <a:gd name="T1" fmla="*/ 19 h 19"/>
                  <a:gd name="T2" fmla="*/ 0 w 265"/>
                  <a:gd name="T3" fmla="*/ 7 h 19"/>
                  <a:gd name="T4" fmla="*/ 265 w 265"/>
                  <a:gd name="T5" fmla="*/ 0 h 19"/>
                  <a:gd name="T6" fmla="*/ 265 w 265"/>
                  <a:gd name="T7" fmla="*/ 12 h 19"/>
                  <a:gd name="T8" fmla="*/ 0 w 265"/>
                  <a:gd name="T9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19">
                    <a:moveTo>
                      <a:pt x="0" y="19"/>
                    </a:moveTo>
                    <a:lnTo>
                      <a:pt x="0" y="7"/>
                    </a:lnTo>
                    <a:lnTo>
                      <a:pt x="265" y="0"/>
                    </a:lnTo>
                    <a:lnTo>
                      <a:pt x="265" y="12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43"/>
              <p:cNvSpPr/>
              <p:nvPr/>
            </p:nvSpPr>
            <p:spPr bwMode="auto">
              <a:xfrm>
                <a:off x="2524" y="2005"/>
                <a:ext cx="66" cy="201"/>
              </a:xfrm>
              <a:custGeom>
                <a:avLst/>
                <a:gdLst>
                  <a:gd name="T0" fmla="*/ 54 w 66"/>
                  <a:gd name="T1" fmla="*/ 201 h 201"/>
                  <a:gd name="T2" fmla="*/ 0 w 66"/>
                  <a:gd name="T3" fmla="*/ 2 h 201"/>
                  <a:gd name="T4" fmla="*/ 12 w 66"/>
                  <a:gd name="T5" fmla="*/ 0 h 201"/>
                  <a:gd name="T6" fmla="*/ 66 w 66"/>
                  <a:gd name="T7" fmla="*/ 198 h 201"/>
                  <a:gd name="T8" fmla="*/ 54 w 66"/>
                  <a:gd name="T9" fmla="*/ 201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201">
                    <a:moveTo>
                      <a:pt x="54" y="201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66" y="198"/>
                    </a:lnTo>
                    <a:lnTo>
                      <a:pt x="54" y="2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44"/>
              <p:cNvSpPr/>
              <p:nvPr/>
            </p:nvSpPr>
            <p:spPr bwMode="auto">
              <a:xfrm>
                <a:off x="2578" y="2031"/>
                <a:ext cx="154" cy="175"/>
              </a:xfrm>
              <a:custGeom>
                <a:avLst/>
                <a:gdLst>
                  <a:gd name="T0" fmla="*/ 9 w 154"/>
                  <a:gd name="T1" fmla="*/ 175 h 175"/>
                  <a:gd name="T2" fmla="*/ 0 w 154"/>
                  <a:gd name="T3" fmla="*/ 167 h 175"/>
                  <a:gd name="T4" fmla="*/ 147 w 154"/>
                  <a:gd name="T5" fmla="*/ 0 h 175"/>
                  <a:gd name="T6" fmla="*/ 154 w 154"/>
                  <a:gd name="T7" fmla="*/ 7 h 175"/>
                  <a:gd name="T8" fmla="*/ 9 w 154"/>
                  <a:gd name="T9" fmla="*/ 175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" h="175">
                    <a:moveTo>
                      <a:pt x="9" y="175"/>
                    </a:moveTo>
                    <a:lnTo>
                      <a:pt x="0" y="167"/>
                    </a:lnTo>
                    <a:lnTo>
                      <a:pt x="147" y="0"/>
                    </a:lnTo>
                    <a:lnTo>
                      <a:pt x="154" y="7"/>
                    </a:lnTo>
                    <a:lnTo>
                      <a:pt x="9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45"/>
              <p:cNvSpPr/>
              <p:nvPr/>
            </p:nvSpPr>
            <p:spPr bwMode="auto">
              <a:xfrm>
                <a:off x="2526" y="2000"/>
                <a:ext cx="203" cy="35"/>
              </a:xfrm>
              <a:custGeom>
                <a:avLst/>
                <a:gdLst>
                  <a:gd name="T0" fmla="*/ 203 w 203"/>
                  <a:gd name="T1" fmla="*/ 35 h 35"/>
                  <a:gd name="T2" fmla="*/ 0 w 203"/>
                  <a:gd name="T3" fmla="*/ 9 h 35"/>
                  <a:gd name="T4" fmla="*/ 2 w 203"/>
                  <a:gd name="T5" fmla="*/ 0 h 35"/>
                  <a:gd name="T6" fmla="*/ 203 w 203"/>
                  <a:gd name="T7" fmla="*/ 26 h 35"/>
                  <a:gd name="T8" fmla="*/ 203 w 203"/>
                  <a:gd name="T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3" h="35">
                    <a:moveTo>
                      <a:pt x="203" y="35"/>
                    </a:moveTo>
                    <a:lnTo>
                      <a:pt x="0" y="9"/>
                    </a:lnTo>
                    <a:lnTo>
                      <a:pt x="2" y="0"/>
                    </a:lnTo>
                    <a:lnTo>
                      <a:pt x="203" y="26"/>
                    </a:lnTo>
                    <a:lnTo>
                      <a:pt x="203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46"/>
              <p:cNvSpPr/>
              <p:nvPr/>
            </p:nvSpPr>
            <p:spPr bwMode="auto">
              <a:xfrm>
                <a:off x="2725" y="1827"/>
                <a:ext cx="132" cy="206"/>
              </a:xfrm>
              <a:custGeom>
                <a:avLst/>
                <a:gdLst>
                  <a:gd name="T0" fmla="*/ 9 w 132"/>
                  <a:gd name="T1" fmla="*/ 206 h 206"/>
                  <a:gd name="T2" fmla="*/ 0 w 132"/>
                  <a:gd name="T3" fmla="*/ 199 h 206"/>
                  <a:gd name="T4" fmla="*/ 122 w 132"/>
                  <a:gd name="T5" fmla="*/ 0 h 206"/>
                  <a:gd name="T6" fmla="*/ 132 w 132"/>
                  <a:gd name="T7" fmla="*/ 8 h 206"/>
                  <a:gd name="T8" fmla="*/ 9 w 132"/>
                  <a:gd name="T9" fmla="*/ 20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206">
                    <a:moveTo>
                      <a:pt x="9" y="206"/>
                    </a:moveTo>
                    <a:lnTo>
                      <a:pt x="0" y="199"/>
                    </a:lnTo>
                    <a:lnTo>
                      <a:pt x="122" y="0"/>
                    </a:lnTo>
                    <a:lnTo>
                      <a:pt x="132" y="8"/>
                    </a:lnTo>
                    <a:lnTo>
                      <a:pt x="9" y="2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47"/>
              <p:cNvSpPr/>
              <p:nvPr/>
            </p:nvSpPr>
            <p:spPr bwMode="auto">
              <a:xfrm>
                <a:off x="3027" y="1939"/>
                <a:ext cx="156" cy="118"/>
              </a:xfrm>
              <a:custGeom>
                <a:avLst/>
                <a:gdLst>
                  <a:gd name="T0" fmla="*/ 7 w 156"/>
                  <a:gd name="T1" fmla="*/ 118 h 118"/>
                  <a:gd name="T2" fmla="*/ 0 w 156"/>
                  <a:gd name="T3" fmla="*/ 108 h 118"/>
                  <a:gd name="T4" fmla="*/ 149 w 156"/>
                  <a:gd name="T5" fmla="*/ 0 h 118"/>
                  <a:gd name="T6" fmla="*/ 156 w 156"/>
                  <a:gd name="T7" fmla="*/ 7 h 118"/>
                  <a:gd name="T8" fmla="*/ 7 w 156"/>
                  <a:gd name="T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118">
                    <a:moveTo>
                      <a:pt x="7" y="118"/>
                    </a:moveTo>
                    <a:lnTo>
                      <a:pt x="0" y="108"/>
                    </a:lnTo>
                    <a:lnTo>
                      <a:pt x="149" y="0"/>
                    </a:lnTo>
                    <a:lnTo>
                      <a:pt x="156" y="7"/>
                    </a:lnTo>
                    <a:lnTo>
                      <a:pt x="7" y="1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48"/>
              <p:cNvSpPr/>
              <p:nvPr/>
            </p:nvSpPr>
            <p:spPr bwMode="auto">
              <a:xfrm>
                <a:off x="3018" y="2054"/>
                <a:ext cx="18" cy="144"/>
              </a:xfrm>
              <a:custGeom>
                <a:avLst/>
                <a:gdLst>
                  <a:gd name="T0" fmla="*/ 11 w 18"/>
                  <a:gd name="T1" fmla="*/ 144 h 144"/>
                  <a:gd name="T2" fmla="*/ 0 w 18"/>
                  <a:gd name="T3" fmla="*/ 144 h 144"/>
                  <a:gd name="T4" fmla="*/ 7 w 18"/>
                  <a:gd name="T5" fmla="*/ 0 h 144"/>
                  <a:gd name="T6" fmla="*/ 18 w 18"/>
                  <a:gd name="T7" fmla="*/ 0 h 144"/>
                  <a:gd name="T8" fmla="*/ 11 w 18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44">
                    <a:moveTo>
                      <a:pt x="11" y="144"/>
                    </a:moveTo>
                    <a:lnTo>
                      <a:pt x="0" y="144"/>
                    </a:lnTo>
                    <a:lnTo>
                      <a:pt x="7" y="0"/>
                    </a:lnTo>
                    <a:lnTo>
                      <a:pt x="18" y="0"/>
                    </a:lnTo>
                    <a:lnTo>
                      <a:pt x="11" y="1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49"/>
              <p:cNvSpPr/>
              <p:nvPr/>
            </p:nvSpPr>
            <p:spPr bwMode="auto">
              <a:xfrm>
                <a:off x="2732" y="2021"/>
                <a:ext cx="297" cy="40"/>
              </a:xfrm>
              <a:custGeom>
                <a:avLst/>
                <a:gdLst>
                  <a:gd name="T0" fmla="*/ 297 w 297"/>
                  <a:gd name="T1" fmla="*/ 40 h 40"/>
                  <a:gd name="T2" fmla="*/ 0 w 297"/>
                  <a:gd name="T3" fmla="*/ 10 h 40"/>
                  <a:gd name="T4" fmla="*/ 0 w 297"/>
                  <a:gd name="T5" fmla="*/ 0 h 40"/>
                  <a:gd name="T6" fmla="*/ 297 w 297"/>
                  <a:gd name="T7" fmla="*/ 29 h 40"/>
                  <a:gd name="T8" fmla="*/ 297 w 297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7" h="40">
                    <a:moveTo>
                      <a:pt x="297" y="4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297" y="29"/>
                    </a:lnTo>
                    <a:lnTo>
                      <a:pt x="297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50"/>
              <p:cNvSpPr/>
              <p:nvPr/>
            </p:nvSpPr>
            <p:spPr bwMode="auto">
              <a:xfrm>
                <a:off x="3022" y="1853"/>
                <a:ext cx="14" cy="199"/>
              </a:xfrm>
              <a:custGeom>
                <a:avLst/>
                <a:gdLst>
                  <a:gd name="T0" fmla="*/ 3 w 14"/>
                  <a:gd name="T1" fmla="*/ 199 h 199"/>
                  <a:gd name="T2" fmla="*/ 0 w 14"/>
                  <a:gd name="T3" fmla="*/ 0 h 199"/>
                  <a:gd name="T4" fmla="*/ 12 w 14"/>
                  <a:gd name="T5" fmla="*/ 0 h 199"/>
                  <a:gd name="T6" fmla="*/ 14 w 14"/>
                  <a:gd name="T7" fmla="*/ 199 h 199"/>
                  <a:gd name="T8" fmla="*/ 3 w 14"/>
                  <a:gd name="T9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99">
                    <a:moveTo>
                      <a:pt x="3" y="199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4" y="199"/>
                    </a:lnTo>
                    <a:lnTo>
                      <a:pt x="3" y="1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51"/>
              <p:cNvSpPr/>
              <p:nvPr/>
            </p:nvSpPr>
            <p:spPr bwMode="auto">
              <a:xfrm>
                <a:off x="3027" y="2042"/>
                <a:ext cx="123" cy="133"/>
              </a:xfrm>
              <a:custGeom>
                <a:avLst/>
                <a:gdLst>
                  <a:gd name="T0" fmla="*/ 49 w 52"/>
                  <a:gd name="T1" fmla="*/ 56 h 56"/>
                  <a:gd name="T2" fmla="*/ 0 w 52"/>
                  <a:gd name="T3" fmla="*/ 2 h 56"/>
                  <a:gd name="T4" fmla="*/ 4 w 52"/>
                  <a:gd name="T5" fmla="*/ 0 h 56"/>
                  <a:gd name="T6" fmla="*/ 2 w 52"/>
                  <a:gd name="T7" fmla="*/ 1 h 56"/>
                  <a:gd name="T8" fmla="*/ 4 w 52"/>
                  <a:gd name="T9" fmla="*/ 0 h 56"/>
                  <a:gd name="T10" fmla="*/ 52 w 52"/>
                  <a:gd name="T11" fmla="*/ 53 h 56"/>
                  <a:gd name="T12" fmla="*/ 49 w 52"/>
                  <a:gd name="T1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56">
                    <a:moveTo>
                      <a:pt x="49" y="56"/>
                    </a:moveTo>
                    <a:cubicBezTo>
                      <a:pt x="1" y="4"/>
                      <a:pt x="0" y="2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2"/>
                      <a:pt x="34" y="33"/>
                      <a:pt x="52" y="53"/>
                    </a:cubicBezTo>
                    <a:lnTo>
                      <a:pt x="49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52"/>
              <p:cNvSpPr/>
              <p:nvPr/>
            </p:nvSpPr>
            <p:spPr bwMode="auto">
              <a:xfrm>
                <a:off x="3025" y="2168"/>
                <a:ext cx="123" cy="40"/>
              </a:xfrm>
              <a:custGeom>
                <a:avLst/>
                <a:gdLst>
                  <a:gd name="T0" fmla="*/ 2 w 123"/>
                  <a:gd name="T1" fmla="*/ 40 h 40"/>
                  <a:gd name="T2" fmla="*/ 0 w 123"/>
                  <a:gd name="T3" fmla="*/ 30 h 40"/>
                  <a:gd name="T4" fmla="*/ 120 w 123"/>
                  <a:gd name="T5" fmla="*/ 0 h 40"/>
                  <a:gd name="T6" fmla="*/ 123 w 123"/>
                  <a:gd name="T7" fmla="*/ 12 h 40"/>
                  <a:gd name="T8" fmla="*/ 2 w 123"/>
                  <a:gd name="T9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2" y="40"/>
                    </a:moveTo>
                    <a:lnTo>
                      <a:pt x="0" y="30"/>
                    </a:lnTo>
                    <a:lnTo>
                      <a:pt x="120" y="0"/>
                    </a:lnTo>
                    <a:lnTo>
                      <a:pt x="123" y="12"/>
                    </a:lnTo>
                    <a:lnTo>
                      <a:pt x="2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53"/>
              <p:cNvSpPr/>
              <p:nvPr/>
            </p:nvSpPr>
            <p:spPr bwMode="auto">
              <a:xfrm>
                <a:off x="3145" y="1943"/>
                <a:ext cx="38" cy="232"/>
              </a:xfrm>
              <a:custGeom>
                <a:avLst/>
                <a:gdLst>
                  <a:gd name="T0" fmla="*/ 10 w 38"/>
                  <a:gd name="T1" fmla="*/ 232 h 232"/>
                  <a:gd name="T2" fmla="*/ 0 w 38"/>
                  <a:gd name="T3" fmla="*/ 232 h 232"/>
                  <a:gd name="T4" fmla="*/ 26 w 38"/>
                  <a:gd name="T5" fmla="*/ 0 h 232"/>
                  <a:gd name="T6" fmla="*/ 38 w 38"/>
                  <a:gd name="T7" fmla="*/ 0 h 232"/>
                  <a:gd name="T8" fmla="*/ 10 w 38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232">
                    <a:moveTo>
                      <a:pt x="10" y="232"/>
                    </a:moveTo>
                    <a:lnTo>
                      <a:pt x="0" y="232"/>
                    </a:lnTo>
                    <a:lnTo>
                      <a:pt x="26" y="0"/>
                    </a:lnTo>
                    <a:lnTo>
                      <a:pt x="38" y="0"/>
                    </a:lnTo>
                    <a:lnTo>
                      <a:pt x="10" y="2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54"/>
              <p:cNvSpPr/>
              <p:nvPr/>
            </p:nvSpPr>
            <p:spPr bwMode="auto">
              <a:xfrm>
                <a:off x="3174" y="1733"/>
                <a:ext cx="111" cy="215"/>
              </a:xfrm>
              <a:custGeom>
                <a:avLst/>
                <a:gdLst>
                  <a:gd name="T0" fmla="*/ 9 w 111"/>
                  <a:gd name="T1" fmla="*/ 215 h 215"/>
                  <a:gd name="T2" fmla="*/ 0 w 111"/>
                  <a:gd name="T3" fmla="*/ 210 h 215"/>
                  <a:gd name="T4" fmla="*/ 101 w 111"/>
                  <a:gd name="T5" fmla="*/ 0 h 215"/>
                  <a:gd name="T6" fmla="*/ 111 w 111"/>
                  <a:gd name="T7" fmla="*/ 7 h 215"/>
                  <a:gd name="T8" fmla="*/ 9 w 111"/>
                  <a:gd name="T9" fmla="*/ 21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215">
                    <a:moveTo>
                      <a:pt x="9" y="215"/>
                    </a:moveTo>
                    <a:lnTo>
                      <a:pt x="0" y="210"/>
                    </a:lnTo>
                    <a:lnTo>
                      <a:pt x="101" y="0"/>
                    </a:lnTo>
                    <a:lnTo>
                      <a:pt x="111" y="7"/>
                    </a:lnTo>
                    <a:lnTo>
                      <a:pt x="9" y="2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55"/>
              <p:cNvSpPr/>
              <p:nvPr/>
            </p:nvSpPr>
            <p:spPr bwMode="auto">
              <a:xfrm>
                <a:off x="3273" y="1478"/>
                <a:ext cx="132" cy="262"/>
              </a:xfrm>
              <a:custGeom>
                <a:avLst/>
                <a:gdLst>
                  <a:gd name="T0" fmla="*/ 12 w 132"/>
                  <a:gd name="T1" fmla="*/ 262 h 262"/>
                  <a:gd name="T2" fmla="*/ 0 w 132"/>
                  <a:gd name="T3" fmla="*/ 257 h 262"/>
                  <a:gd name="T4" fmla="*/ 123 w 132"/>
                  <a:gd name="T5" fmla="*/ 0 h 262"/>
                  <a:gd name="T6" fmla="*/ 132 w 132"/>
                  <a:gd name="T7" fmla="*/ 5 h 262"/>
                  <a:gd name="T8" fmla="*/ 12 w 132"/>
                  <a:gd name="T9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262">
                    <a:moveTo>
                      <a:pt x="12" y="262"/>
                    </a:moveTo>
                    <a:lnTo>
                      <a:pt x="0" y="257"/>
                    </a:lnTo>
                    <a:lnTo>
                      <a:pt x="123" y="0"/>
                    </a:lnTo>
                    <a:lnTo>
                      <a:pt x="132" y="5"/>
                    </a:lnTo>
                    <a:lnTo>
                      <a:pt x="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56"/>
              <p:cNvSpPr/>
              <p:nvPr/>
            </p:nvSpPr>
            <p:spPr bwMode="auto">
              <a:xfrm>
                <a:off x="3145" y="1591"/>
                <a:ext cx="140" cy="149"/>
              </a:xfrm>
              <a:custGeom>
                <a:avLst/>
                <a:gdLst>
                  <a:gd name="T0" fmla="*/ 130 w 140"/>
                  <a:gd name="T1" fmla="*/ 149 h 149"/>
                  <a:gd name="T2" fmla="*/ 0 w 140"/>
                  <a:gd name="T3" fmla="*/ 10 h 149"/>
                  <a:gd name="T4" fmla="*/ 7 w 140"/>
                  <a:gd name="T5" fmla="*/ 0 h 149"/>
                  <a:gd name="T6" fmla="*/ 140 w 140"/>
                  <a:gd name="T7" fmla="*/ 142 h 149"/>
                  <a:gd name="T8" fmla="*/ 130 w 140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149">
                    <a:moveTo>
                      <a:pt x="130" y="149"/>
                    </a:moveTo>
                    <a:lnTo>
                      <a:pt x="0" y="10"/>
                    </a:lnTo>
                    <a:lnTo>
                      <a:pt x="7" y="0"/>
                    </a:lnTo>
                    <a:lnTo>
                      <a:pt x="140" y="142"/>
                    </a:lnTo>
                    <a:lnTo>
                      <a:pt x="130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57"/>
              <p:cNvSpPr/>
              <p:nvPr/>
            </p:nvSpPr>
            <p:spPr bwMode="auto">
              <a:xfrm>
                <a:off x="3025" y="1591"/>
                <a:ext cx="127" cy="267"/>
              </a:xfrm>
              <a:custGeom>
                <a:avLst/>
                <a:gdLst>
                  <a:gd name="T0" fmla="*/ 9 w 127"/>
                  <a:gd name="T1" fmla="*/ 267 h 267"/>
                  <a:gd name="T2" fmla="*/ 0 w 127"/>
                  <a:gd name="T3" fmla="*/ 262 h 267"/>
                  <a:gd name="T4" fmla="*/ 118 w 127"/>
                  <a:gd name="T5" fmla="*/ 0 h 267"/>
                  <a:gd name="T6" fmla="*/ 127 w 127"/>
                  <a:gd name="T7" fmla="*/ 5 h 267"/>
                  <a:gd name="T8" fmla="*/ 9 w 127"/>
                  <a:gd name="T9" fmla="*/ 267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267">
                    <a:moveTo>
                      <a:pt x="9" y="267"/>
                    </a:moveTo>
                    <a:lnTo>
                      <a:pt x="0" y="262"/>
                    </a:lnTo>
                    <a:lnTo>
                      <a:pt x="118" y="0"/>
                    </a:lnTo>
                    <a:lnTo>
                      <a:pt x="127" y="5"/>
                    </a:lnTo>
                    <a:lnTo>
                      <a:pt x="9" y="2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58"/>
              <p:cNvSpPr/>
              <p:nvPr/>
            </p:nvSpPr>
            <p:spPr bwMode="auto">
              <a:xfrm>
                <a:off x="2852" y="1823"/>
                <a:ext cx="175" cy="38"/>
              </a:xfrm>
              <a:custGeom>
                <a:avLst/>
                <a:gdLst>
                  <a:gd name="T0" fmla="*/ 173 w 175"/>
                  <a:gd name="T1" fmla="*/ 38 h 38"/>
                  <a:gd name="T2" fmla="*/ 0 w 175"/>
                  <a:gd name="T3" fmla="*/ 12 h 38"/>
                  <a:gd name="T4" fmla="*/ 3 w 175"/>
                  <a:gd name="T5" fmla="*/ 0 h 38"/>
                  <a:gd name="T6" fmla="*/ 175 w 175"/>
                  <a:gd name="T7" fmla="*/ 26 h 38"/>
                  <a:gd name="T8" fmla="*/ 173 w 175"/>
                  <a:gd name="T9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38">
                    <a:moveTo>
                      <a:pt x="173" y="38"/>
                    </a:moveTo>
                    <a:lnTo>
                      <a:pt x="0" y="12"/>
                    </a:lnTo>
                    <a:lnTo>
                      <a:pt x="3" y="0"/>
                    </a:lnTo>
                    <a:lnTo>
                      <a:pt x="175" y="26"/>
                    </a:lnTo>
                    <a:lnTo>
                      <a:pt x="173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59"/>
              <p:cNvSpPr/>
              <p:nvPr/>
            </p:nvSpPr>
            <p:spPr bwMode="auto">
              <a:xfrm>
                <a:off x="3027" y="1849"/>
                <a:ext cx="154" cy="97"/>
              </a:xfrm>
              <a:custGeom>
                <a:avLst/>
                <a:gdLst>
                  <a:gd name="T0" fmla="*/ 147 w 154"/>
                  <a:gd name="T1" fmla="*/ 97 h 97"/>
                  <a:gd name="T2" fmla="*/ 0 w 154"/>
                  <a:gd name="T3" fmla="*/ 9 h 97"/>
                  <a:gd name="T4" fmla="*/ 7 w 154"/>
                  <a:gd name="T5" fmla="*/ 0 h 97"/>
                  <a:gd name="T6" fmla="*/ 154 w 154"/>
                  <a:gd name="T7" fmla="*/ 87 h 97"/>
                  <a:gd name="T8" fmla="*/ 147 w 154"/>
                  <a:gd name="T9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" h="97">
                    <a:moveTo>
                      <a:pt x="147" y="97"/>
                    </a:moveTo>
                    <a:lnTo>
                      <a:pt x="0" y="9"/>
                    </a:lnTo>
                    <a:lnTo>
                      <a:pt x="7" y="0"/>
                    </a:lnTo>
                    <a:lnTo>
                      <a:pt x="154" y="87"/>
                    </a:lnTo>
                    <a:lnTo>
                      <a:pt x="147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60"/>
              <p:cNvSpPr/>
              <p:nvPr/>
            </p:nvSpPr>
            <p:spPr bwMode="auto">
              <a:xfrm>
                <a:off x="3029" y="1731"/>
                <a:ext cx="251" cy="125"/>
              </a:xfrm>
              <a:custGeom>
                <a:avLst/>
                <a:gdLst>
                  <a:gd name="T0" fmla="*/ 5 w 251"/>
                  <a:gd name="T1" fmla="*/ 125 h 125"/>
                  <a:gd name="T2" fmla="*/ 0 w 251"/>
                  <a:gd name="T3" fmla="*/ 115 h 125"/>
                  <a:gd name="T4" fmla="*/ 246 w 251"/>
                  <a:gd name="T5" fmla="*/ 0 h 125"/>
                  <a:gd name="T6" fmla="*/ 251 w 251"/>
                  <a:gd name="T7" fmla="*/ 11 h 125"/>
                  <a:gd name="T8" fmla="*/ 5 w 251"/>
                  <a:gd name="T9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1" h="125">
                    <a:moveTo>
                      <a:pt x="5" y="125"/>
                    </a:moveTo>
                    <a:lnTo>
                      <a:pt x="0" y="115"/>
                    </a:lnTo>
                    <a:lnTo>
                      <a:pt x="246" y="0"/>
                    </a:lnTo>
                    <a:lnTo>
                      <a:pt x="251" y="11"/>
                    </a:lnTo>
                    <a:lnTo>
                      <a:pt x="5" y="1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61"/>
              <p:cNvSpPr/>
              <p:nvPr/>
            </p:nvSpPr>
            <p:spPr bwMode="auto">
              <a:xfrm>
                <a:off x="2989" y="1636"/>
                <a:ext cx="45" cy="215"/>
              </a:xfrm>
              <a:custGeom>
                <a:avLst/>
                <a:gdLst>
                  <a:gd name="T0" fmla="*/ 36 w 45"/>
                  <a:gd name="T1" fmla="*/ 215 h 215"/>
                  <a:gd name="T2" fmla="*/ 0 w 45"/>
                  <a:gd name="T3" fmla="*/ 2 h 215"/>
                  <a:gd name="T4" fmla="*/ 12 w 45"/>
                  <a:gd name="T5" fmla="*/ 0 h 215"/>
                  <a:gd name="T6" fmla="*/ 45 w 45"/>
                  <a:gd name="T7" fmla="*/ 213 h 215"/>
                  <a:gd name="T8" fmla="*/ 36 w 45"/>
                  <a:gd name="T9" fmla="*/ 21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215">
                    <a:moveTo>
                      <a:pt x="36" y="215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45" y="213"/>
                    </a:lnTo>
                    <a:lnTo>
                      <a:pt x="36" y="2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62"/>
              <p:cNvSpPr/>
              <p:nvPr/>
            </p:nvSpPr>
            <p:spPr bwMode="auto">
              <a:xfrm>
                <a:off x="2845" y="1641"/>
                <a:ext cx="14" cy="186"/>
              </a:xfrm>
              <a:custGeom>
                <a:avLst/>
                <a:gdLst>
                  <a:gd name="T0" fmla="*/ 2 w 14"/>
                  <a:gd name="T1" fmla="*/ 186 h 186"/>
                  <a:gd name="T2" fmla="*/ 0 w 14"/>
                  <a:gd name="T3" fmla="*/ 0 h 186"/>
                  <a:gd name="T4" fmla="*/ 12 w 14"/>
                  <a:gd name="T5" fmla="*/ 0 h 186"/>
                  <a:gd name="T6" fmla="*/ 14 w 14"/>
                  <a:gd name="T7" fmla="*/ 186 h 186"/>
                  <a:gd name="T8" fmla="*/ 2 w 14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86">
                    <a:moveTo>
                      <a:pt x="2" y="186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4" y="186"/>
                    </a:lnTo>
                    <a:lnTo>
                      <a:pt x="2" y="1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63"/>
              <p:cNvSpPr/>
              <p:nvPr/>
            </p:nvSpPr>
            <p:spPr bwMode="auto">
              <a:xfrm>
                <a:off x="2833" y="1350"/>
                <a:ext cx="24" cy="293"/>
              </a:xfrm>
              <a:custGeom>
                <a:avLst/>
                <a:gdLst>
                  <a:gd name="T0" fmla="*/ 12 w 24"/>
                  <a:gd name="T1" fmla="*/ 293 h 293"/>
                  <a:gd name="T2" fmla="*/ 0 w 24"/>
                  <a:gd name="T3" fmla="*/ 3 h 293"/>
                  <a:gd name="T4" fmla="*/ 12 w 24"/>
                  <a:gd name="T5" fmla="*/ 0 h 293"/>
                  <a:gd name="T6" fmla="*/ 24 w 24"/>
                  <a:gd name="T7" fmla="*/ 293 h 293"/>
                  <a:gd name="T8" fmla="*/ 12 w 24"/>
                  <a:gd name="T9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93">
                    <a:moveTo>
                      <a:pt x="12" y="293"/>
                    </a:moveTo>
                    <a:lnTo>
                      <a:pt x="0" y="3"/>
                    </a:lnTo>
                    <a:lnTo>
                      <a:pt x="12" y="0"/>
                    </a:lnTo>
                    <a:lnTo>
                      <a:pt x="24" y="293"/>
                    </a:lnTo>
                    <a:lnTo>
                      <a:pt x="12" y="2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64"/>
              <p:cNvSpPr/>
              <p:nvPr/>
            </p:nvSpPr>
            <p:spPr bwMode="auto">
              <a:xfrm>
                <a:off x="2855" y="1631"/>
                <a:ext cx="141" cy="22"/>
              </a:xfrm>
              <a:custGeom>
                <a:avLst/>
                <a:gdLst>
                  <a:gd name="T0" fmla="*/ 0 w 141"/>
                  <a:gd name="T1" fmla="*/ 22 h 22"/>
                  <a:gd name="T2" fmla="*/ 0 w 141"/>
                  <a:gd name="T3" fmla="*/ 10 h 22"/>
                  <a:gd name="T4" fmla="*/ 141 w 141"/>
                  <a:gd name="T5" fmla="*/ 0 h 22"/>
                  <a:gd name="T6" fmla="*/ 141 w 141"/>
                  <a:gd name="T7" fmla="*/ 12 h 22"/>
                  <a:gd name="T8" fmla="*/ 0 w 141"/>
                  <a:gd name="T9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1" h="22">
                    <a:moveTo>
                      <a:pt x="0" y="22"/>
                    </a:moveTo>
                    <a:lnTo>
                      <a:pt x="0" y="10"/>
                    </a:lnTo>
                    <a:lnTo>
                      <a:pt x="141" y="0"/>
                    </a:lnTo>
                    <a:lnTo>
                      <a:pt x="141" y="1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65"/>
              <p:cNvSpPr/>
              <p:nvPr/>
            </p:nvSpPr>
            <p:spPr bwMode="auto">
              <a:xfrm>
                <a:off x="2649" y="1643"/>
                <a:ext cx="206" cy="140"/>
              </a:xfrm>
              <a:custGeom>
                <a:avLst/>
                <a:gdLst>
                  <a:gd name="T0" fmla="*/ 7 w 206"/>
                  <a:gd name="T1" fmla="*/ 140 h 140"/>
                  <a:gd name="T2" fmla="*/ 0 w 206"/>
                  <a:gd name="T3" fmla="*/ 130 h 140"/>
                  <a:gd name="T4" fmla="*/ 198 w 206"/>
                  <a:gd name="T5" fmla="*/ 0 h 140"/>
                  <a:gd name="T6" fmla="*/ 206 w 206"/>
                  <a:gd name="T7" fmla="*/ 10 h 140"/>
                  <a:gd name="T8" fmla="*/ 7 w 206"/>
                  <a:gd name="T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140">
                    <a:moveTo>
                      <a:pt x="7" y="140"/>
                    </a:moveTo>
                    <a:lnTo>
                      <a:pt x="0" y="130"/>
                    </a:lnTo>
                    <a:lnTo>
                      <a:pt x="198" y="0"/>
                    </a:lnTo>
                    <a:lnTo>
                      <a:pt x="206" y="10"/>
                    </a:lnTo>
                    <a:lnTo>
                      <a:pt x="7" y="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66"/>
              <p:cNvSpPr/>
              <p:nvPr/>
            </p:nvSpPr>
            <p:spPr bwMode="auto">
              <a:xfrm>
                <a:off x="2524" y="1776"/>
                <a:ext cx="134" cy="231"/>
              </a:xfrm>
              <a:custGeom>
                <a:avLst/>
                <a:gdLst>
                  <a:gd name="T0" fmla="*/ 9 w 134"/>
                  <a:gd name="T1" fmla="*/ 231 h 231"/>
                  <a:gd name="T2" fmla="*/ 0 w 134"/>
                  <a:gd name="T3" fmla="*/ 224 h 231"/>
                  <a:gd name="T4" fmla="*/ 125 w 134"/>
                  <a:gd name="T5" fmla="*/ 0 h 231"/>
                  <a:gd name="T6" fmla="*/ 134 w 134"/>
                  <a:gd name="T7" fmla="*/ 4 h 231"/>
                  <a:gd name="T8" fmla="*/ 9 w 134"/>
                  <a:gd name="T9" fmla="*/ 231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231">
                    <a:moveTo>
                      <a:pt x="9" y="231"/>
                    </a:moveTo>
                    <a:lnTo>
                      <a:pt x="0" y="224"/>
                    </a:lnTo>
                    <a:lnTo>
                      <a:pt x="125" y="0"/>
                    </a:lnTo>
                    <a:lnTo>
                      <a:pt x="134" y="4"/>
                    </a:lnTo>
                    <a:lnTo>
                      <a:pt x="9" y="2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67"/>
              <p:cNvSpPr/>
              <p:nvPr/>
            </p:nvSpPr>
            <p:spPr bwMode="auto">
              <a:xfrm>
                <a:off x="2526" y="1825"/>
                <a:ext cx="329" cy="177"/>
              </a:xfrm>
              <a:custGeom>
                <a:avLst/>
                <a:gdLst>
                  <a:gd name="T0" fmla="*/ 5 w 329"/>
                  <a:gd name="T1" fmla="*/ 177 h 177"/>
                  <a:gd name="T2" fmla="*/ 0 w 329"/>
                  <a:gd name="T3" fmla="*/ 168 h 177"/>
                  <a:gd name="T4" fmla="*/ 324 w 329"/>
                  <a:gd name="T5" fmla="*/ 0 h 177"/>
                  <a:gd name="T6" fmla="*/ 329 w 329"/>
                  <a:gd name="T7" fmla="*/ 10 h 177"/>
                  <a:gd name="T8" fmla="*/ 5 w 329"/>
                  <a:gd name="T9" fmla="*/ 17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9" h="177">
                    <a:moveTo>
                      <a:pt x="5" y="177"/>
                    </a:moveTo>
                    <a:lnTo>
                      <a:pt x="0" y="168"/>
                    </a:lnTo>
                    <a:lnTo>
                      <a:pt x="324" y="0"/>
                    </a:lnTo>
                    <a:lnTo>
                      <a:pt x="329" y="10"/>
                    </a:lnTo>
                    <a:lnTo>
                      <a:pt x="5" y="1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Freeform 68"/>
              <p:cNvSpPr/>
              <p:nvPr/>
            </p:nvSpPr>
            <p:spPr bwMode="auto">
              <a:xfrm>
                <a:off x="2649" y="1773"/>
                <a:ext cx="83" cy="255"/>
              </a:xfrm>
              <a:custGeom>
                <a:avLst/>
                <a:gdLst>
                  <a:gd name="T0" fmla="*/ 73 w 83"/>
                  <a:gd name="T1" fmla="*/ 255 h 255"/>
                  <a:gd name="T2" fmla="*/ 0 w 83"/>
                  <a:gd name="T3" fmla="*/ 5 h 255"/>
                  <a:gd name="T4" fmla="*/ 12 w 83"/>
                  <a:gd name="T5" fmla="*/ 0 h 255"/>
                  <a:gd name="T6" fmla="*/ 83 w 83"/>
                  <a:gd name="T7" fmla="*/ 251 h 255"/>
                  <a:gd name="T8" fmla="*/ 73 w 83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55">
                    <a:moveTo>
                      <a:pt x="73" y="255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83" y="251"/>
                    </a:lnTo>
                    <a:lnTo>
                      <a:pt x="73" y="2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69"/>
              <p:cNvSpPr/>
              <p:nvPr/>
            </p:nvSpPr>
            <p:spPr bwMode="auto">
              <a:xfrm>
                <a:off x="2358" y="1650"/>
                <a:ext cx="175" cy="350"/>
              </a:xfrm>
              <a:custGeom>
                <a:avLst/>
                <a:gdLst>
                  <a:gd name="T0" fmla="*/ 163 w 175"/>
                  <a:gd name="T1" fmla="*/ 350 h 350"/>
                  <a:gd name="T2" fmla="*/ 0 w 175"/>
                  <a:gd name="T3" fmla="*/ 5 h 350"/>
                  <a:gd name="T4" fmla="*/ 10 w 175"/>
                  <a:gd name="T5" fmla="*/ 0 h 350"/>
                  <a:gd name="T6" fmla="*/ 175 w 175"/>
                  <a:gd name="T7" fmla="*/ 345 h 350"/>
                  <a:gd name="T8" fmla="*/ 163 w 175"/>
                  <a:gd name="T9" fmla="*/ 35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350">
                    <a:moveTo>
                      <a:pt x="163" y="350"/>
                    </a:moveTo>
                    <a:lnTo>
                      <a:pt x="0" y="5"/>
                    </a:lnTo>
                    <a:lnTo>
                      <a:pt x="10" y="0"/>
                    </a:lnTo>
                    <a:lnTo>
                      <a:pt x="175" y="345"/>
                    </a:lnTo>
                    <a:lnTo>
                      <a:pt x="163" y="3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70"/>
              <p:cNvSpPr/>
              <p:nvPr/>
            </p:nvSpPr>
            <p:spPr bwMode="auto">
              <a:xfrm>
                <a:off x="2283" y="1289"/>
                <a:ext cx="85" cy="366"/>
              </a:xfrm>
              <a:custGeom>
                <a:avLst/>
                <a:gdLst>
                  <a:gd name="T0" fmla="*/ 73 w 85"/>
                  <a:gd name="T1" fmla="*/ 366 h 366"/>
                  <a:gd name="T2" fmla="*/ 0 w 85"/>
                  <a:gd name="T3" fmla="*/ 2 h 366"/>
                  <a:gd name="T4" fmla="*/ 11 w 85"/>
                  <a:gd name="T5" fmla="*/ 0 h 366"/>
                  <a:gd name="T6" fmla="*/ 85 w 85"/>
                  <a:gd name="T7" fmla="*/ 366 h 366"/>
                  <a:gd name="T8" fmla="*/ 73 w 85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366">
                    <a:moveTo>
                      <a:pt x="73" y="366"/>
                    </a:moveTo>
                    <a:lnTo>
                      <a:pt x="0" y="2"/>
                    </a:lnTo>
                    <a:lnTo>
                      <a:pt x="11" y="0"/>
                    </a:lnTo>
                    <a:lnTo>
                      <a:pt x="85" y="366"/>
                    </a:lnTo>
                    <a:lnTo>
                      <a:pt x="73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71"/>
              <p:cNvSpPr/>
              <p:nvPr/>
            </p:nvSpPr>
            <p:spPr bwMode="auto">
              <a:xfrm>
                <a:off x="2285" y="1289"/>
                <a:ext cx="168" cy="139"/>
              </a:xfrm>
              <a:custGeom>
                <a:avLst/>
                <a:gdLst>
                  <a:gd name="T0" fmla="*/ 161 w 168"/>
                  <a:gd name="T1" fmla="*/ 139 h 139"/>
                  <a:gd name="T2" fmla="*/ 0 w 168"/>
                  <a:gd name="T3" fmla="*/ 7 h 139"/>
                  <a:gd name="T4" fmla="*/ 7 w 168"/>
                  <a:gd name="T5" fmla="*/ 0 h 139"/>
                  <a:gd name="T6" fmla="*/ 168 w 168"/>
                  <a:gd name="T7" fmla="*/ 130 h 139"/>
                  <a:gd name="T8" fmla="*/ 161 w 168"/>
                  <a:gd name="T9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8" h="139">
                    <a:moveTo>
                      <a:pt x="161" y="139"/>
                    </a:moveTo>
                    <a:lnTo>
                      <a:pt x="0" y="7"/>
                    </a:lnTo>
                    <a:lnTo>
                      <a:pt x="7" y="0"/>
                    </a:lnTo>
                    <a:lnTo>
                      <a:pt x="168" y="130"/>
                    </a:lnTo>
                    <a:lnTo>
                      <a:pt x="161" y="1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72"/>
              <p:cNvSpPr/>
              <p:nvPr/>
            </p:nvSpPr>
            <p:spPr bwMode="auto">
              <a:xfrm>
                <a:off x="2356" y="1423"/>
                <a:ext cx="99" cy="227"/>
              </a:xfrm>
              <a:custGeom>
                <a:avLst/>
                <a:gdLst>
                  <a:gd name="T0" fmla="*/ 9 w 99"/>
                  <a:gd name="T1" fmla="*/ 227 h 227"/>
                  <a:gd name="T2" fmla="*/ 0 w 99"/>
                  <a:gd name="T3" fmla="*/ 223 h 227"/>
                  <a:gd name="T4" fmla="*/ 90 w 99"/>
                  <a:gd name="T5" fmla="*/ 0 h 227"/>
                  <a:gd name="T6" fmla="*/ 99 w 99"/>
                  <a:gd name="T7" fmla="*/ 5 h 227"/>
                  <a:gd name="T8" fmla="*/ 9 w 99"/>
                  <a:gd name="T9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227">
                    <a:moveTo>
                      <a:pt x="9" y="227"/>
                    </a:moveTo>
                    <a:lnTo>
                      <a:pt x="0" y="223"/>
                    </a:lnTo>
                    <a:lnTo>
                      <a:pt x="90" y="0"/>
                    </a:lnTo>
                    <a:lnTo>
                      <a:pt x="99" y="5"/>
                    </a:lnTo>
                    <a:lnTo>
                      <a:pt x="9" y="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73"/>
              <p:cNvSpPr/>
              <p:nvPr/>
            </p:nvSpPr>
            <p:spPr bwMode="auto">
              <a:xfrm>
                <a:off x="2446" y="1419"/>
                <a:ext cx="179" cy="106"/>
              </a:xfrm>
              <a:custGeom>
                <a:avLst/>
                <a:gdLst>
                  <a:gd name="T0" fmla="*/ 175 w 179"/>
                  <a:gd name="T1" fmla="*/ 106 h 106"/>
                  <a:gd name="T2" fmla="*/ 0 w 179"/>
                  <a:gd name="T3" fmla="*/ 9 h 106"/>
                  <a:gd name="T4" fmla="*/ 4 w 179"/>
                  <a:gd name="T5" fmla="*/ 0 h 106"/>
                  <a:gd name="T6" fmla="*/ 179 w 179"/>
                  <a:gd name="T7" fmla="*/ 97 h 106"/>
                  <a:gd name="T8" fmla="*/ 175 w 179"/>
                  <a:gd name="T9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9" h="106">
                    <a:moveTo>
                      <a:pt x="175" y="106"/>
                    </a:moveTo>
                    <a:lnTo>
                      <a:pt x="0" y="9"/>
                    </a:lnTo>
                    <a:lnTo>
                      <a:pt x="4" y="0"/>
                    </a:lnTo>
                    <a:lnTo>
                      <a:pt x="179" y="97"/>
                    </a:lnTo>
                    <a:lnTo>
                      <a:pt x="175" y="1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74"/>
              <p:cNvSpPr/>
              <p:nvPr/>
            </p:nvSpPr>
            <p:spPr bwMode="auto">
              <a:xfrm>
                <a:off x="2613" y="1518"/>
                <a:ext cx="43" cy="262"/>
              </a:xfrm>
              <a:custGeom>
                <a:avLst/>
                <a:gdLst>
                  <a:gd name="T0" fmla="*/ 34 w 43"/>
                  <a:gd name="T1" fmla="*/ 262 h 262"/>
                  <a:gd name="T2" fmla="*/ 0 w 43"/>
                  <a:gd name="T3" fmla="*/ 2 h 262"/>
                  <a:gd name="T4" fmla="*/ 12 w 43"/>
                  <a:gd name="T5" fmla="*/ 0 h 262"/>
                  <a:gd name="T6" fmla="*/ 43 w 43"/>
                  <a:gd name="T7" fmla="*/ 260 h 262"/>
                  <a:gd name="T8" fmla="*/ 34 w 43"/>
                  <a:gd name="T9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262">
                    <a:moveTo>
                      <a:pt x="34" y="262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43" y="260"/>
                    </a:lnTo>
                    <a:lnTo>
                      <a:pt x="34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75"/>
              <p:cNvSpPr/>
              <p:nvPr/>
            </p:nvSpPr>
            <p:spPr bwMode="auto">
              <a:xfrm>
                <a:off x="2621" y="1516"/>
                <a:ext cx="231" cy="134"/>
              </a:xfrm>
              <a:custGeom>
                <a:avLst/>
                <a:gdLst>
                  <a:gd name="T0" fmla="*/ 226 w 231"/>
                  <a:gd name="T1" fmla="*/ 134 h 134"/>
                  <a:gd name="T2" fmla="*/ 0 w 231"/>
                  <a:gd name="T3" fmla="*/ 9 h 134"/>
                  <a:gd name="T4" fmla="*/ 4 w 231"/>
                  <a:gd name="T5" fmla="*/ 0 h 134"/>
                  <a:gd name="T6" fmla="*/ 231 w 231"/>
                  <a:gd name="T7" fmla="*/ 125 h 134"/>
                  <a:gd name="T8" fmla="*/ 226 w 231"/>
                  <a:gd name="T9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1" h="134">
                    <a:moveTo>
                      <a:pt x="226" y="134"/>
                    </a:moveTo>
                    <a:lnTo>
                      <a:pt x="0" y="9"/>
                    </a:lnTo>
                    <a:lnTo>
                      <a:pt x="4" y="0"/>
                    </a:lnTo>
                    <a:lnTo>
                      <a:pt x="231" y="125"/>
                    </a:lnTo>
                    <a:lnTo>
                      <a:pt x="226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Freeform 76"/>
              <p:cNvSpPr/>
              <p:nvPr/>
            </p:nvSpPr>
            <p:spPr bwMode="auto">
              <a:xfrm>
                <a:off x="2595" y="1383"/>
                <a:ext cx="33" cy="140"/>
              </a:xfrm>
              <a:custGeom>
                <a:avLst/>
                <a:gdLst>
                  <a:gd name="T0" fmla="*/ 21 w 33"/>
                  <a:gd name="T1" fmla="*/ 140 h 140"/>
                  <a:gd name="T2" fmla="*/ 0 w 33"/>
                  <a:gd name="T3" fmla="*/ 0 h 140"/>
                  <a:gd name="T4" fmla="*/ 9 w 33"/>
                  <a:gd name="T5" fmla="*/ 0 h 140"/>
                  <a:gd name="T6" fmla="*/ 33 w 33"/>
                  <a:gd name="T7" fmla="*/ 137 h 140"/>
                  <a:gd name="T8" fmla="*/ 21 w 33"/>
                  <a:gd name="T9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40">
                    <a:moveTo>
                      <a:pt x="21" y="140"/>
                    </a:moveTo>
                    <a:lnTo>
                      <a:pt x="0" y="0"/>
                    </a:lnTo>
                    <a:lnTo>
                      <a:pt x="9" y="0"/>
                    </a:lnTo>
                    <a:lnTo>
                      <a:pt x="33" y="137"/>
                    </a:lnTo>
                    <a:lnTo>
                      <a:pt x="21" y="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77"/>
              <p:cNvSpPr/>
              <p:nvPr/>
            </p:nvSpPr>
            <p:spPr bwMode="auto">
              <a:xfrm>
                <a:off x="2361" y="1513"/>
                <a:ext cx="262" cy="135"/>
              </a:xfrm>
              <a:custGeom>
                <a:avLst/>
                <a:gdLst>
                  <a:gd name="T0" fmla="*/ 4 w 262"/>
                  <a:gd name="T1" fmla="*/ 135 h 135"/>
                  <a:gd name="T2" fmla="*/ 0 w 262"/>
                  <a:gd name="T3" fmla="*/ 125 h 135"/>
                  <a:gd name="T4" fmla="*/ 257 w 262"/>
                  <a:gd name="T5" fmla="*/ 0 h 135"/>
                  <a:gd name="T6" fmla="*/ 262 w 262"/>
                  <a:gd name="T7" fmla="*/ 10 h 135"/>
                  <a:gd name="T8" fmla="*/ 4 w 262"/>
                  <a:gd name="T9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135">
                    <a:moveTo>
                      <a:pt x="4" y="135"/>
                    </a:moveTo>
                    <a:lnTo>
                      <a:pt x="0" y="125"/>
                    </a:lnTo>
                    <a:lnTo>
                      <a:pt x="257" y="0"/>
                    </a:lnTo>
                    <a:lnTo>
                      <a:pt x="262" y="10"/>
                    </a:lnTo>
                    <a:lnTo>
                      <a:pt x="4" y="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Freeform 78"/>
              <p:cNvSpPr/>
              <p:nvPr/>
            </p:nvSpPr>
            <p:spPr bwMode="auto">
              <a:xfrm>
                <a:off x="2361" y="1641"/>
                <a:ext cx="290" cy="135"/>
              </a:xfrm>
              <a:custGeom>
                <a:avLst/>
                <a:gdLst>
                  <a:gd name="T0" fmla="*/ 288 w 290"/>
                  <a:gd name="T1" fmla="*/ 135 h 135"/>
                  <a:gd name="T2" fmla="*/ 0 w 290"/>
                  <a:gd name="T3" fmla="*/ 9 h 135"/>
                  <a:gd name="T4" fmla="*/ 4 w 290"/>
                  <a:gd name="T5" fmla="*/ 0 h 135"/>
                  <a:gd name="T6" fmla="*/ 290 w 290"/>
                  <a:gd name="T7" fmla="*/ 125 h 135"/>
                  <a:gd name="T8" fmla="*/ 288 w 290"/>
                  <a:gd name="T9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" h="135">
                    <a:moveTo>
                      <a:pt x="288" y="135"/>
                    </a:moveTo>
                    <a:lnTo>
                      <a:pt x="0" y="9"/>
                    </a:lnTo>
                    <a:lnTo>
                      <a:pt x="4" y="0"/>
                    </a:lnTo>
                    <a:lnTo>
                      <a:pt x="290" y="125"/>
                    </a:lnTo>
                    <a:lnTo>
                      <a:pt x="288" y="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79"/>
              <p:cNvSpPr/>
              <p:nvPr/>
            </p:nvSpPr>
            <p:spPr bwMode="auto">
              <a:xfrm>
                <a:off x="2656" y="1731"/>
                <a:ext cx="619" cy="52"/>
              </a:xfrm>
              <a:custGeom>
                <a:avLst/>
                <a:gdLst>
                  <a:gd name="T0" fmla="*/ 0 w 619"/>
                  <a:gd name="T1" fmla="*/ 52 h 52"/>
                  <a:gd name="T2" fmla="*/ 0 w 619"/>
                  <a:gd name="T3" fmla="*/ 40 h 52"/>
                  <a:gd name="T4" fmla="*/ 619 w 619"/>
                  <a:gd name="T5" fmla="*/ 0 h 52"/>
                  <a:gd name="T6" fmla="*/ 619 w 619"/>
                  <a:gd name="T7" fmla="*/ 11 h 52"/>
                  <a:gd name="T8" fmla="*/ 0 w 619"/>
                  <a:gd name="T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9" h="52">
                    <a:moveTo>
                      <a:pt x="0" y="52"/>
                    </a:moveTo>
                    <a:lnTo>
                      <a:pt x="0" y="40"/>
                    </a:lnTo>
                    <a:lnTo>
                      <a:pt x="619" y="0"/>
                    </a:lnTo>
                    <a:lnTo>
                      <a:pt x="619" y="11"/>
                    </a:lnTo>
                    <a:lnTo>
                      <a:pt x="0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Freeform 80"/>
              <p:cNvSpPr/>
              <p:nvPr/>
            </p:nvSpPr>
            <p:spPr bwMode="auto">
              <a:xfrm>
                <a:off x="3145" y="1475"/>
                <a:ext cx="258" cy="123"/>
              </a:xfrm>
              <a:custGeom>
                <a:avLst/>
                <a:gdLst>
                  <a:gd name="T0" fmla="*/ 5 w 258"/>
                  <a:gd name="T1" fmla="*/ 123 h 123"/>
                  <a:gd name="T2" fmla="*/ 0 w 258"/>
                  <a:gd name="T3" fmla="*/ 114 h 123"/>
                  <a:gd name="T4" fmla="*/ 253 w 258"/>
                  <a:gd name="T5" fmla="*/ 0 h 123"/>
                  <a:gd name="T6" fmla="*/ 258 w 258"/>
                  <a:gd name="T7" fmla="*/ 10 h 123"/>
                  <a:gd name="T8" fmla="*/ 5 w 258"/>
                  <a:gd name="T9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123">
                    <a:moveTo>
                      <a:pt x="5" y="123"/>
                    </a:moveTo>
                    <a:lnTo>
                      <a:pt x="0" y="114"/>
                    </a:lnTo>
                    <a:lnTo>
                      <a:pt x="253" y="0"/>
                    </a:lnTo>
                    <a:lnTo>
                      <a:pt x="258" y="10"/>
                    </a:lnTo>
                    <a:lnTo>
                      <a:pt x="5" y="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Freeform 81"/>
              <p:cNvSpPr/>
              <p:nvPr/>
            </p:nvSpPr>
            <p:spPr bwMode="auto">
              <a:xfrm>
                <a:off x="2994" y="1589"/>
                <a:ext cx="156" cy="52"/>
              </a:xfrm>
              <a:custGeom>
                <a:avLst/>
                <a:gdLst>
                  <a:gd name="T0" fmla="*/ 2 w 156"/>
                  <a:gd name="T1" fmla="*/ 52 h 52"/>
                  <a:gd name="T2" fmla="*/ 0 w 156"/>
                  <a:gd name="T3" fmla="*/ 40 h 52"/>
                  <a:gd name="T4" fmla="*/ 154 w 156"/>
                  <a:gd name="T5" fmla="*/ 0 h 52"/>
                  <a:gd name="T6" fmla="*/ 156 w 156"/>
                  <a:gd name="T7" fmla="*/ 9 h 52"/>
                  <a:gd name="T8" fmla="*/ 2 w 156"/>
                  <a:gd name="T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52">
                    <a:moveTo>
                      <a:pt x="2" y="52"/>
                    </a:moveTo>
                    <a:lnTo>
                      <a:pt x="0" y="40"/>
                    </a:lnTo>
                    <a:lnTo>
                      <a:pt x="154" y="0"/>
                    </a:lnTo>
                    <a:lnTo>
                      <a:pt x="156" y="9"/>
                    </a:lnTo>
                    <a:lnTo>
                      <a:pt x="2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Freeform 82"/>
              <p:cNvSpPr/>
              <p:nvPr/>
            </p:nvSpPr>
            <p:spPr bwMode="auto">
              <a:xfrm>
                <a:off x="3379" y="1152"/>
                <a:ext cx="26" cy="328"/>
              </a:xfrm>
              <a:custGeom>
                <a:avLst/>
                <a:gdLst>
                  <a:gd name="T0" fmla="*/ 14 w 26"/>
                  <a:gd name="T1" fmla="*/ 328 h 328"/>
                  <a:gd name="T2" fmla="*/ 0 w 26"/>
                  <a:gd name="T3" fmla="*/ 0 h 328"/>
                  <a:gd name="T4" fmla="*/ 12 w 26"/>
                  <a:gd name="T5" fmla="*/ 0 h 328"/>
                  <a:gd name="T6" fmla="*/ 26 w 26"/>
                  <a:gd name="T7" fmla="*/ 328 h 328"/>
                  <a:gd name="T8" fmla="*/ 14 w 26"/>
                  <a:gd name="T9" fmla="*/ 328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28">
                    <a:moveTo>
                      <a:pt x="14" y="328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26" y="328"/>
                    </a:lnTo>
                    <a:lnTo>
                      <a:pt x="14" y="3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Freeform 83"/>
              <p:cNvSpPr/>
              <p:nvPr/>
            </p:nvSpPr>
            <p:spPr bwMode="auto">
              <a:xfrm>
                <a:off x="3202" y="944"/>
                <a:ext cx="187" cy="212"/>
              </a:xfrm>
              <a:custGeom>
                <a:avLst/>
                <a:gdLst>
                  <a:gd name="T0" fmla="*/ 179 w 187"/>
                  <a:gd name="T1" fmla="*/ 212 h 212"/>
                  <a:gd name="T2" fmla="*/ 0 w 187"/>
                  <a:gd name="T3" fmla="*/ 7 h 212"/>
                  <a:gd name="T4" fmla="*/ 9 w 187"/>
                  <a:gd name="T5" fmla="*/ 0 h 212"/>
                  <a:gd name="T6" fmla="*/ 187 w 187"/>
                  <a:gd name="T7" fmla="*/ 205 h 212"/>
                  <a:gd name="T8" fmla="*/ 179 w 187"/>
                  <a:gd name="T9" fmla="*/ 212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212">
                    <a:moveTo>
                      <a:pt x="179" y="212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187" y="205"/>
                    </a:lnTo>
                    <a:lnTo>
                      <a:pt x="179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Freeform 84"/>
              <p:cNvSpPr/>
              <p:nvPr/>
            </p:nvSpPr>
            <p:spPr bwMode="auto">
              <a:xfrm>
                <a:off x="3237" y="1149"/>
                <a:ext cx="149" cy="119"/>
              </a:xfrm>
              <a:custGeom>
                <a:avLst/>
                <a:gdLst>
                  <a:gd name="T0" fmla="*/ 7 w 149"/>
                  <a:gd name="T1" fmla="*/ 119 h 119"/>
                  <a:gd name="T2" fmla="*/ 0 w 149"/>
                  <a:gd name="T3" fmla="*/ 109 h 119"/>
                  <a:gd name="T4" fmla="*/ 142 w 149"/>
                  <a:gd name="T5" fmla="*/ 0 h 119"/>
                  <a:gd name="T6" fmla="*/ 149 w 149"/>
                  <a:gd name="T7" fmla="*/ 10 h 119"/>
                  <a:gd name="T8" fmla="*/ 7 w 149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119">
                    <a:moveTo>
                      <a:pt x="7" y="119"/>
                    </a:moveTo>
                    <a:lnTo>
                      <a:pt x="0" y="109"/>
                    </a:lnTo>
                    <a:lnTo>
                      <a:pt x="142" y="0"/>
                    </a:lnTo>
                    <a:lnTo>
                      <a:pt x="149" y="10"/>
                    </a:lnTo>
                    <a:lnTo>
                      <a:pt x="7" y="1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Freeform 85"/>
              <p:cNvSpPr/>
              <p:nvPr/>
            </p:nvSpPr>
            <p:spPr bwMode="auto">
              <a:xfrm>
                <a:off x="3086" y="1258"/>
                <a:ext cx="161" cy="137"/>
              </a:xfrm>
              <a:custGeom>
                <a:avLst/>
                <a:gdLst>
                  <a:gd name="T0" fmla="*/ 7 w 161"/>
                  <a:gd name="T1" fmla="*/ 137 h 137"/>
                  <a:gd name="T2" fmla="*/ 0 w 161"/>
                  <a:gd name="T3" fmla="*/ 130 h 137"/>
                  <a:gd name="T4" fmla="*/ 154 w 161"/>
                  <a:gd name="T5" fmla="*/ 0 h 137"/>
                  <a:gd name="T6" fmla="*/ 161 w 161"/>
                  <a:gd name="T7" fmla="*/ 10 h 137"/>
                  <a:gd name="T8" fmla="*/ 7 w 161"/>
                  <a:gd name="T9" fmla="*/ 13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137">
                    <a:moveTo>
                      <a:pt x="7" y="137"/>
                    </a:moveTo>
                    <a:lnTo>
                      <a:pt x="0" y="130"/>
                    </a:lnTo>
                    <a:lnTo>
                      <a:pt x="154" y="0"/>
                    </a:lnTo>
                    <a:lnTo>
                      <a:pt x="161" y="10"/>
                    </a:lnTo>
                    <a:lnTo>
                      <a:pt x="7" y="1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Freeform 86"/>
              <p:cNvSpPr/>
              <p:nvPr/>
            </p:nvSpPr>
            <p:spPr bwMode="auto">
              <a:xfrm>
                <a:off x="2838" y="1353"/>
                <a:ext cx="255" cy="42"/>
              </a:xfrm>
              <a:custGeom>
                <a:avLst/>
                <a:gdLst>
                  <a:gd name="T0" fmla="*/ 253 w 255"/>
                  <a:gd name="T1" fmla="*/ 42 h 42"/>
                  <a:gd name="T2" fmla="*/ 0 w 255"/>
                  <a:gd name="T3" fmla="*/ 9 h 42"/>
                  <a:gd name="T4" fmla="*/ 2 w 255"/>
                  <a:gd name="T5" fmla="*/ 0 h 42"/>
                  <a:gd name="T6" fmla="*/ 255 w 255"/>
                  <a:gd name="T7" fmla="*/ 33 h 42"/>
                  <a:gd name="T8" fmla="*/ 253 w 255"/>
                  <a:gd name="T9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5" h="42">
                    <a:moveTo>
                      <a:pt x="253" y="42"/>
                    </a:moveTo>
                    <a:lnTo>
                      <a:pt x="0" y="9"/>
                    </a:lnTo>
                    <a:lnTo>
                      <a:pt x="2" y="0"/>
                    </a:lnTo>
                    <a:lnTo>
                      <a:pt x="255" y="33"/>
                    </a:lnTo>
                    <a:lnTo>
                      <a:pt x="253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Freeform 87"/>
              <p:cNvSpPr/>
              <p:nvPr/>
            </p:nvSpPr>
            <p:spPr bwMode="auto">
              <a:xfrm>
                <a:off x="2599" y="1355"/>
                <a:ext cx="239" cy="33"/>
              </a:xfrm>
              <a:custGeom>
                <a:avLst/>
                <a:gdLst>
                  <a:gd name="T0" fmla="*/ 0 w 239"/>
                  <a:gd name="T1" fmla="*/ 33 h 33"/>
                  <a:gd name="T2" fmla="*/ 0 w 239"/>
                  <a:gd name="T3" fmla="*/ 24 h 33"/>
                  <a:gd name="T4" fmla="*/ 239 w 239"/>
                  <a:gd name="T5" fmla="*/ 0 h 33"/>
                  <a:gd name="T6" fmla="*/ 239 w 239"/>
                  <a:gd name="T7" fmla="*/ 12 h 33"/>
                  <a:gd name="T8" fmla="*/ 0 w 239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9" h="33">
                    <a:moveTo>
                      <a:pt x="0" y="33"/>
                    </a:moveTo>
                    <a:lnTo>
                      <a:pt x="0" y="24"/>
                    </a:lnTo>
                    <a:lnTo>
                      <a:pt x="239" y="0"/>
                    </a:lnTo>
                    <a:lnTo>
                      <a:pt x="239" y="12"/>
                    </a:ln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Freeform 88"/>
              <p:cNvSpPr/>
              <p:nvPr/>
            </p:nvSpPr>
            <p:spPr bwMode="auto">
              <a:xfrm>
                <a:off x="2287" y="1286"/>
                <a:ext cx="315" cy="104"/>
              </a:xfrm>
              <a:custGeom>
                <a:avLst/>
                <a:gdLst>
                  <a:gd name="T0" fmla="*/ 310 w 315"/>
                  <a:gd name="T1" fmla="*/ 104 h 104"/>
                  <a:gd name="T2" fmla="*/ 0 w 315"/>
                  <a:gd name="T3" fmla="*/ 10 h 104"/>
                  <a:gd name="T4" fmla="*/ 5 w 315"/>
                  <a:gd name="T5" fmla="*/ 0 h 104"/>
                  <a:gd name="T6" fmla="*/ 315 w 315"/>
                  <a:gd name="T7" fmla="*/ 95 h 104"/>
                  <a:gd name="T8" fmla="*/ 310 w 315"/>
                  <a:gd name="T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104">
                    <a:moveTo>
                      <a:pt x="310" y="104"/>
                    </a:moveTo>
                    <a:lnTo>
                      <a:pt x="0" y="10"/>
                    </a:lnTo>
                    <a:lnTo>
                      <a:pt x="5" y="0"/>
                    </a:lnTo>
                    <a:lnTo>
                      <a:pt x="315" y="95"/>
                    </a:lnTo>
                    <a:lnTo>
                      <a:pt x="310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7" name="Freeform 89"/>
              <p:cNvSpPr/>
              <p:nvPr/>
            </p:nvSpPr>
            <p:spPr bwMode="auto">
              <a:xfrm>
                <a:off x="2448" y="1383"/>
                <a:ext cx="149" cy="48"/>
              </a:xfrm>
              <a:custGeom>
                <a:avLst/>
                <a:gdLst>
                  <a:gd name="T0" fmla="*/ 5 w 149"/>
                  <a:gd name="T1" fmla="*/ 48 h 48"/>
                  <a:gd name="T2" fmla="*/ 0 w 149"/>
                  <a:gd name="T3" fmla="*/ 36 h 48"/>
                  <a:gd name="T4" fmla="*/ 147 w 149"/>
                  <a:gd name="T5" fmla="*/ 0 h 48"/>
                  <a:gd name="T6" fmla="*/ 149 w 149"/>
                  <a:gd name="T7" fmla="*/ 10 h 48"/>
                  <a:gd name="T8" fmla="*/ 5 w 149"/>
                  <a:gd name="T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48">
                    <a:moveTo>
                      <a:pt x="5" y="48"/>
                    </a:moveTo>
                    <a:lnTo>
                      <a:pt x="0" y="36"/>
                    </a:lnTo>
                    <a:lnTo>
                      <a:pt x="147" y="0"/>
                    </a:lnTo>
                    <a:lnTo>
                      <a:pt x="149" y="10"/>
                    </a:lnTo>
                    <a:lnTo>
                      <a:pt x="5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8" name="Freeform 90"/>
              <p:cNvSpPr/>
              <p:nvPr/>
            </p:nvSpPr>
            <p:spPr bwMode="auto">
              <a:xfrm>
                <a:off x="2618" y="1386"/>
                <a:ext cx="473" cy="132"/>
              </a:xfrm>
              <a:custGeom>
                <a:avLst/>
                <a:gdLst>
                  <a:gd name="T0" fmla="*/ 0 w 200"/>
                  <a:gd name="T1" fmla="*/ 56 h 56"/>
                  <a:gd name="T2" fmla="*/ 0 w 200"/>
                  <a:gd name="T3" fmla="*/ 56 h 56"/>
                  <a:gd name="T4" fmla="*/ 1 w 200"/>
                  <a:gd name="T5" fmla="*/ 54 h 56"/>
                  <a:gd name="T6" fmla="*/ 1 w 200"/>
                  <a:gd name="T7" fmla="*/ 52 h 56"/>
                  <a:gd name="T8" fmla="*/ 199 w 200"/>
                  <a:gd name="T9" fmla="*/ 0 h 56"/>
                  <a:gd name="T10" fmla="*/ 200 w 200"/>
                  <a:gd name="T11" fmla="*/ 4 h 56"/>
                  <a:gd name="T12" fmla="*/ 0 w 200"/>
                  <a:gd name="T1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0" h="56">
                    <a:moveTo>
                      <a:pt x="0" y="56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2"/>
                      <a:pt x="1" y="52"/>
                      <a:pt x="1" y="52"/>
                    </a:cubicBezTo>
                    <a:cubicBezTo>
                      <a:pt x="6" y="51"/>
                      <a:pt x="145" y="14"/>
                      <a:pt x="199" y="0"/>
                    </a:cubicBezTo>
                    <a:cubicBezTo>
                      <a:pt x="200" y="4"/>
                      <a:pt x="200" y="4"/>
                      <a:pt x="200" y="4"/>
                    </a:cubicBezTo>
                    <a:cubicBezTo>
                      <a:pt x="18" y="53"/>
                      <a:pt x="2" y="56"/>
                      <a:pt x="0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9" name="Freeform 91"/>
              <p:cNvSpPr/>
              <p:nvPr/>
            </p:nvSpPr>
            <p:spPr bwMode="auto">
              <a:xfrm>
                <a:off x="2618" y="1357"/>
                <a:ext cx="225" cy="163"/>
              </a:xfrm>
              <a:custGeom>
                <a:avLst/>
                <a:gdLst>
                  <a:gd name="T0" fmla="*/ 7 w 225"/>
                  <a:gd name="T1" fmla="*/ 163 h 163"/>
                  <a:gd name="T2" fmla="*/ 0 w 225"/>
                  <a:gd name="T3" fmla="*/ 154 h 163"/>
                  <a:gd name="T4" fmla="*/ 218 w 225"/>
                  <a:gd name="T5" fmla="*/ 0 h 163"/>
                  <a:gd name="T6" fmla="*/ 225 w 225"/>
                  <a:gd name="T7" fmla="*/ 10 h 163"/>
                  <a:gd name="T8" fmla="*/ 7 w 225"/>
                  <a:gd name="T9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5" h="163">
                    <a:moveTo>
                      <a:pt x="7" y="163"/>
                    </a:moveTo>
                    <a:lnTo>
                      <a:pt x="0" y="154"/>
                    </a:lnTo>
                    <a:lnTo>
                      <a:pt x="218" y="0"/>
                    </a:lnTo>
                    <a:lnTo>
                      <a:pt x="225" y="10"/>
                    </a:lnTo>
                    <a:lnTo>
                      <a:pt x="7" y="1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Freeform 92"/>
              <p:cNvSpPr/>
              <p:nvPr/>
            </p:nvSpPr>
            <p:spPr bwMode="auto">
              <a:xfrm>
                <a:off x="2845" y="1258"/>
                <a:ext cx="395" cy="99"/>
              </a:xfrm>
              <a:custGeom>
                <a:avLst/>
                <a:gdLst>
                  <a:gd name="T0" fmla="*/ 2 w 395"/>
                  <a:gd name="T1" fmla="*/ 99 h 99"/>
                  <a:gd name="T2" fmla="*/ 0 w 395"/>
                  <a:gd name="T3" fmla="*/ 88 h 99"/>
                  <a:gd name="T4" fmla="*/ 392 w 395"/>
                  <a:gd name="T5" fmla="*/ 0 h 99"/>
                  <a:gd name="T6" fmla="*/ 395 w 395"/>
                  <a:gd name="T7" fmla="*/ 12 h 99"/>
                  <a:gd name="T8" fmla="*/ 2 w 395"/>
                  <a:gd name="T9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5" h="99">
                    <a:moveTo>
                      <a:pt x="2" y="99"/>
                    </a:moveTo>
                    <a:lnTo>
                      <a:pt x="0" y="88"/>
                    </a:lnTo>
                    <a:lnTo>
                      <a:pt x="392" y="0"/>
                    </a:lnTo>
                    <a:lnTo>
                      <a:pt x="395" y="12"/>
                    </a:lnTo>
                    <a:lnTo>
                      <a:pt x="2" y="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1" name="Freeform 93"/>
              <p:cNvSpPr/>
              <p:nvPr/>
            </p:nvSpPr>
            <p:spPr bwMode="auto">
              <a:xfrm>
                <a:off x="3086" y="1393"/>
                <a:ext cx="69" cy="198"/>
              </a:xfrm>
              <a:custGeom>
                <a:avLst/>
                <a:gdLst>
                  <a:gd name="T0" fmla="*/ 59 w 69"/>
                  <a:gd name="T1" fmla="*/ 198 h 198"/>
                  <a:gd name="T2" fmla="*/ 0 w 69"/>
                  <a:gd name="T3" fmla="*/ 2 h 198"/>
                  <a:gd name="T4" fmla="*/ 12 w 69"/>
                  <a:gd name="T5" fmla="*/ 0 h 198"/>
                  <a:gd name="T6" fmla="*/ 69 w 69"/>
                  <a:gd name="T7" fmla="*/ 196 h 198"/>
                  <a:gd name="T8" fmla="*/ 59 w 69"/>
                  <a:gd name="T9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198">
                    <a:moveTo>
                      <a:pt x="59" y="198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69" y="196"/>
                    </a:lnTo>
                    <a:lnTo>
                      <a:pt x="59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2" name="Freeform 94"/>
              <p:cNvSpPr/>
              <p:nvPr/>
            </p:nvSpPr>
            <p:spPr bwMode="auto">
              <a:xfrm>
                <a:off x="2980" y="1105"/>
                <a:ext cx="401" cy="51"/>
              </a:xfrm>
              <a:custGeom>
                <a:avLst/>
                <a:gdLst>
                  <a:gd name="T0" fmla="*/ 399 w 401"/>
                  <a:gd name="T1" fmla="*/ 51 h 51"/>
                  <a:gd name="T2" fmla="*/ 0 w 401"/>
                  <a:gd name="T3" fmla="*/ 11 h 51"/>
                  <a:gd name="T4" fmla="*/ 0 w 401"/>
                  <a:gd name="T5" fmla="*/ 0 h 51"/>
                  <a:gd name="T6" fmla="*/ 401 w 401"/>
                  <a:gd name="T7" fmla="*/ 42 h 51"/>
                  <a:gd name="T8" fmla="*/ 399 w 401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51">
                    <a:moveTo>
                      <a:pt x="399" y="51"/>
                    </a:moveTo>
                    <a:lnTo>
                      <a:pt x="0" y="11"/>
                    </a:lnTo>
                    <a:lnTo>
                      <a:pt x="0" y="0"/>
                    </a:lnTo>
                    <a:lnTo>
                      <a:pt x="401" y="42"/>
                    </a:lnTo>
                    <a:lnTo>
                      <a:pt x="399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Freeform 95"/>
              <p:cNvSpPr/>
              <p:nvPr/>
            </p:nvSpPr>
            <p:spPr bwMode="auto">
              <a:xfrm>
                <a:off x="2977" y="944"/>
                <a:ext cx="232" cy="168"/>
              </a:xfrm>
              <a:custGeom>
                <a:avLst/>
                <a:gdLst>
                  <a:gd name="T0" fmla="*/ 7 w 232"/>
                  <a:gd name="T1" fmla="*/ 168 h 168"/>
                  <a:gd name="T2" fmla="*/ 0 w 232"/>
                  <a:gd name="T3" fmla="*/ 161 h 168"/>
                  <a:gd name="T4" fmla="*/ 225 w 232"/>
                  <a:gd name="T5" fmla="*/ 0 h 168"/>
                  <a:gd name="T6" fmla="*/ 232 w 232"/>
                  <a:gd name="T7" fmla="*/ 9 h 168"/>
                  <a:gd name="T8" fmla="*/ 7 w 232"/>
                  <a:gd name="T9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168">
                    <a:moveTo>
                      <a:pt x="7" y="168"/>
                    </a:moveTo>
                    <a:lnTo>
                      <a:pt x="0" y="161"/>
                    </a:lnTo>
                    <a:lnTo>
                      <a:pt x="225" y="0"/>
                    </a:lnTo>
                    <a:lnTo>
                      <a:pt x="232" y="9"/>
                    </a:lnTo>
                    <a:lnTo>
                      <a:pt x="7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Freeform 96"/>
              <p:cNvSpPr/>
              <p:nvPr/>
            </p:nvSpPr>
            <p:spPr bwMode="auto">
              <a:xfrm>
                <a:off x="2283" y="1038"/>
                <a:ext cx="111" cy="253"/>
              </a:xfrm>
              <a:custGeom>
                <a:avLst/>
                <a:gdLst>
                  <a:gd name="T0" fmla="*/ 9 w 111"/>
                  <a:gd name="T1" fmla="*/ 253 h 253"/>
                  <a:gd name="T2" fmla="*/ 0 w 111"/>
                  <a:gd name="T3" fmla="*/ 248 h 253"/>
                  <a:gd name="T4" fmla="*/ 99 w 111"/>
                  <a:gd name="T5" fmla="*/ 0 h 253"/>
                  <a:gd name="T6" fmla="*/ 111 w 111"/>
                  <a:gd name="T7" fmla="*/ 5 h 253"/>
                  <a:gd name="T8" fmla="*/ 9 w 111"/>
                  <a:gd name="T9" fmla="*/ 253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253">
                    <a:moveTo>
                      <a:pt x="9" y="253"/>
                    </a:moveTo>
                    <a:lnTo>
                      <a:pt x="0" y="248"/>
                    </a:lnTo>
                    <a:lnTo>
                      <a:pt x="99" y="0"/>
                    </a:lnTo>
                    <a:lnTo>
                      <a:pt x="111" y="5"/>
                    </a:lnTo>
                    <a:lnTo>
                      <a:pt x="9" y="2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Freeform 97"/>
              <p:cNvSpPr/>
              <p:nvPr/>
            </p:nvSpPr>
            <p:spPr bwMode="auto">
              <a:xfrm>
                <a:off x="2389" y="1034"/>
                <a:ext cx="173" cy="241"/>
              </a:xfrm>
              <a:custGeom>
                <a:avLst/>
                <a:gdLst>
                  <a:gd name="T0" fmla="*/ 163 w 173"/>
                  <a:gd name="T1" fmla="*/ 241 h 241"/>
                  <a:gd name="T2" fmla="*/ 0 w 173"/>
                  <a:gd name="T3" fmla="*/ 7 h 241"/>
                  <a:gd name="T4" fmla="*/ 9 w 173"/>
                  <a:gd name="T5" fmla="*/ 0 h 241"/>
                  <a:gd name="T6" fmla="*/ 173 w 173"/>
                  <a:gd name="T7" fmla="*/ 234 h 241"/>
                  <a:gd name="T8" fmla="*/ 163 w 173"/>
                  <a:gd name="T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241">
                    <a:moveTo>
                      <a:pt x="163" y="241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173" y="234"/>
                    </a:lnTo>
                    <a:lnTo>
                      <a:pt x="163" y="2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Freeform 98"/>
              <p:cNvSpPr/>
              <p:nvPr/>
            </p:nvSpPr>
            <p:spPr bwMode="auto">
              <a:xfrm>
                <a:off x="2562" y="1263"/>
                <a:ext cx="285" cy="99"/>
              </a:xfrm>
              <a:custGeom>
                <a:avLst/>
                <a:gdLst>
                  <a:gd name="T0" fmla="*/ 283 w 285"/>
                  <a:gd name="T1" fmla="*/ 99 h 99"/>
                  <a:gd name="T2" fmla="*/ 0 w 285"/>
                  <a:gd name="T3" fmla="*/ 9 h 99"/>
                  <a:gd name="T4" fmla="*/ 2 w 285"/>
                  <a:gd name="T5" fmla="*/ 0 h 99"/>
                  <a:gd name="T6" fmla="*/ 285 w 285"/>
                  <a:gd name="T7" fmla="*/ 87 h 99"/>
                  <a:gd name="T8" fmla="*/ 283 w 285"/>
                  <a:gd name="T9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5" h="99">
                    <a:moveTo>
                      <a:pt x="283" y="99"/>
                    </a:moveTo>
                    <a:lnTo>
                      <a:pt x="0" y="9"/>
                    </a:lnTo>
                    <a:lnTo>
                      <a:pt x="2" y="0"/>
                    </a:lnTo>
                    <a:lnTo>
                      <a:pt x="285" y="87"/>
                    </a:lnTo>
                    <a:lnTo>
                      <a:pt x="283" y="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Freeform 99"/>
              <p:cNvSpPr/>
              <p:nvPr/>
            </p:nvSpPr>
            <p:spPr bwMode="auto">
              <a:xfrm>
                <a:off x="2554" y="1265"/>
                <a:ext cx="48" cy="121"/>
              </a:xfrm>
              <a:custGeom>
                <a:avLst/>
                <a:gdLst>
                  <a:gd name="T0" fmla="*/ 38 w 48"/>
                  <a:gd name="T1" fmla="*/ 121 h 121"/>
                  <a:gd name="T2" fmla="*/ 0 w 48"/>
                  <a:gd name="T3" fmla="*/ 5 h 121"/>
                  <a:gd name="T4" fmla="*/ 12 w 48"/>
                  <a:gd name="T5" fmla="*/ 0 h 121"/>
                  <a:gd name="T6" fmla="*/ 48 w 48"/>
                  <a:gd name="T7" fmla="*/ 118 h 121"/>
                  <a:gd name="T8" fmla="*/ 38 w 48"/>
                  <a:gd name="T9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121">
                    <a:moveTo>
                      <a:pt x="38" y="12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8" y="118"/>
                    </a:lnTo>
                    <a:lnTo>
                      <a:pt x="38" y="1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Freeform 100"/>
              <p:cNvSpPr/>
              <p:nvPr/>
            </p:nvSpPr>
            <p:spPr bwMode="auto">
              <a:xfrm>
                <a:off x="2443" y="1263"/>
                <a:ext cx="121" cy="165"/>
              </a:xfrm>
              <a:custGeom>
                <a:avLst/>
                <a:gdLst>
                  <a:gd name="T0" fmla="*/ 10 w 121"/>
                  <a:gd name="T1" fmla="*/ 165 h 165"/>
                  <a:gd name="T2" fmla="*/ 0 w 121"/>
                  <a:gd name="T3" fmla="*/ 158 h 165"/>
                  <a:gd name="T4" fmla="*/ 111 w 121"/>
                  <a:gd name="T5" fmla="*/ 0 h 165"/>
                  <a:gd name="T6" fmla="*/ 121 w 121"/>
                  <a:gd name="T7" fmla="*/ 7 h 165"/>
                  <a:gd name="T8" fmla="*/ 10 w 121"/>
                  <a:gd name="T9" fmla="*/ 16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165">
                    <a:moveTo>
                      <a:pt x="10" y="165"/>
                    </a:moveTo>
                    <a:lnTo>
                      <a:pt x="0" y="158"/>
                    </a:lnTo>
                    <a:lnTo>
                      <a:pt x="111" y="0"/>
                    </a:lnTo>
                    <a:lnTo>
                      <a:pt x="121" y="7"/>
                    </a:lnTo>
                    <a:lnTo>
                      <a:pt x="10" y="1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Freeform 101"/>
              <p:cNvSpPr/>
              <p:nvPr/>
            </p:nvSpPr>
            <p:spPr bwMode="auto">
              <a:xfrm>
                <a:off x="2382" y="885"/>
                <a:ext cx="198" cy="160"/>
              </a:xfrm>
              <a:custGeom>
                <a:avLst/>
                <a:gdLst>
                  <a:gd name="T0" fmla="*/ 7 w 198"/>
                  <a:gd name="T1" fmla="*/ 160 h 160"/>
                  <a:gd name="T2" fmla="*/ 0 w 198"/>
                  <a:gd name="T3" fmla="*/ 151 h 160"/>
                  <a:gd name="T4" fmla="*/ 191 w 198"/>
                  <a:gd name="T5" fmla="*/ 0 h 160"/>
                  <a:gd name="T6" fmla="*/ 198 w 198"/>
                  <a:gd name="T7" fmla="*/ 7 h 160"/>
                  <a:gd name="T8" fmla="*/ 7 w 198"/>
                  <a:gd name="T9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160">
                    <a:moveTo>
                      <a:pt x="7" y="160"/>
                    </a:moveTo>
                    <a:lnTo>
                      <a:pt x="0" y="151"/>
                    </a:lnTo>
                    <a:lnTo>
                      <a:pt x="191" y="0"/>
                    </a:lnTo>
                    <a:lnTo>
                      <a:pt x="198" y="7"/>
                    </a:lnTo>
                    <a:lnTo>
                      <a:pt x="7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Freeform 102"/>
              <p:cNvSpPr/>
              <p:nvPr/>
            </p:nvSpPr>
            <p:spPr bwMode="auto">
              <a:xfrm>
                <a:off x="2569" y="885"/>
                <a:ext cx="208" cy="250"/>
              </a:xfrm>
              <a:custGeom>
                <a:avLst/>
                <a:gdLst>
                  <a:gd name="T0" fmla="*/ 200 w 208"/>
                  <a:gd name="T1" fmla="*/ 250 h 250"/>
                  <a:gd name="T2" fmla="*/ 0 w 208"/>
                  <a:gd name="T3" fmla="*/ 7 h 250"/>
                  <a:gd name="T4" fmla="*/ 9 w 208"/>
                  <a:gd name="T5" fmla="*/ 0 h 250"/>
                  <a:gd name="T6" fmla="*/ 208 w 208"/>
                  <a:gd name="T7" fmla="*/ 243 h 250"/>
                  <a:gd name="T8" fmla="*/ 200 w 208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8" h="250">
                    <a:moveTo>
                      <a:pt x="200" y="250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208" y="243"/>
                    </a:lnTo>
                    <a:lnTo>
                      <a:pt x="20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Freeform 103"/>
              <p:cNvSpPr/>
              <p:nvPr/>
            </p:nvSpPr>
            <p:spPr bwMode="auto">
              <a:xfrm>
                <a:off x="2554" y="1123"/>
                <a:ext cx="220" cy="147"/>
              </a:xfrm>
              <a:custGeom>
                <a:avLst/>
                <a:gdLst>
                  <a:gd name="T0" fmla="*/ 8 w 220"/>
                  <a:gd name="T1" fmla="*/ 147 h 147"/>
                  <a:gd name="T2" fmla="*/ 0 w 220"/>
                  <a:gd name="T3" fmla="*/ 137 h 147"/>
                  <a:gd name="T4" fmla="*/ 215 w 220"/>
                  <a:gd name="T5" fmla="*/ 0 h 147"/>
                  <a:gd name="T6" fmla="*/ 220 w 220"/>
                  <a:gd name="T7" fmla="*/ 10 h 147"/>
                  <a:gd name="T8" fmla="*/ 8 w 220"/>
                  <a:gd name="T9" fmla="*/ 14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0" h="147">
                    <a:moveTo>
                      <a:pt x="8" y="147"/>
                    </a:moveTo>
                    <a:lnTo>
                      <a:pt x="0" y="137"/>
                    </a:lnTo>
                    <a:lnTo>
                      <a:pt x="215" y="0"/>
                    </a:lnTo>
                    <a:lnTo>
                      <a:pt x="220" y="10"/>
                    </a:lnTo>
                    <a:lnTo>
                      <a:pt x="8" y="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Freeform 104"/>
              <p:cNvSpPr/>
              <p:nvPr/>
            </p:nvSpPr>
            <p:spPr bwMode="auto">
              <a:xfrm>
                <a:off x="2290" y="1263"/>
                <a:ext cx="269" cy="28"/>
              </a:xfrm>
              <a:custGeom>
                <a:avLst/>
                <a:gdLst>
                  <a:gd name="T0" fmla="*/ 0 w 269"/>
                  <a:gd name="T1" fmla="*/ 28 h 28"/>
                  <a:gd name="T2" fmla="*/ 0 w 269"/>
                  <a:gd name="T3" fmla="*/ 16 h 28"/>
                  <a:gd name="T4" fmla="*/ 269 w 269"/>
                  <a:gd name="T5" fmla="*/ 0 h 28"/>
                  <a:gd name="T6" fmla="*/ 269 w 269"/>
                  <a:gd name="T7" fmla="*/ 9 h 28"/>
                  <a:gd name="T8" fmla="*/ 0 w 269"/>
                  <a:gd name="T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9" h="28">
                    <a:moveTo>
                      <a:pt x="0" y="28"/>
                    </a:moveTo>
                    <a:lnTo>
                      <a:pt x="0" y="16"/>
                    </a:lnTo>
                    <a:lnTo>
                      <a:pt x="269" y="0"/>
                    </a:lnTo>
                    <a:lnTo>
                      <a:pt x="269" y="9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Freeform 105"/>
              <p:cNvSpPr/>
              <p:nvPr/>
            </p:nvSpPr>
            <p:spPr bwMode="auto">
              <a:xfrm>
                <a:off x="2772" y="1102"/>
                <a:ext cx="210" cy="31"/>
              </a:xfrm>
              <a:custGeom>
                <a:avLst/>
                <a:gdLst>
                  <a:gd name="T0" fmla="*/ 2 w 210"/>
                  <a:gd name="T1" fmla="*/ 31 h 31"/>
                  <a:gd name="T2" fmla="*/ 0 w 210"/>
                  <a:gd name="T3" fmla="*/ 19 h 31"/>
                  <a:gd name="T4" fmla="*/ 210 w 210"/>
                  <a:gd name="T5" fmla="*/ 0 h 31"/>
                  <a:gd name="T6" fmla="*/ 210 w 210"/>
                  <a:gd name="T7" fmla="*/ 12 h 31"/>
                  <a:gd name="T8" fmla="*/ 2 w 210"/>
                  <a:gd name="T9" fmla="*/ 3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31">
                    <a:moveTo>
                      <a:pt x="2" y="31"/>
                    </a:moveTo>
                    <a:lnTo>
                      <a:pt x="0" y="19"/>
                    </a:lnTo>
                    <a:lnTo>
                      <a:pt x="210" y="0"/>
                    </a:lnTo>
                    <a:lnTo>
                      <a:pt x="210" y="12"/>
                    </a:lnTo>
                    <a:lnTo>
                      <a:pt x="2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Freeform 106"/>
              <p:cNvSpPr/>
              <p:nvPr/>
            </p:nvSpPr>
            <p:spPr bwMode="auto">
              <a:xfrm>
                <a:off x="2899" y="814"/>
                <a:ext cx="308" cy="139"/>
              </a:xfrm>
              <a:custGeom>
                <a:avLst/>
                <a:gdLst>
                  <a:gd name="T0" fmla="*/ 303 w 308"/>
                  <a:gd name="T1" fmla="*/ 139 h 139"/>
                  <a:gd name="T2" fmla="*/ 0 w 308"/>
                  <a:gd name="T3" fmla="*/ 9 h 139"/>
                  <a:gd name="T4" fmla="*/ 5 w 308"/>
                  <a:gd name="T5" fmla="*/ 0 h 139"/>
                  <a:gd name="T6" fmla="*/ 308 w 308"/>
                  <a:gd name="T7" fmla="*/ 127 h 139"/>
                  <a:gd name="T8" fmla="*/ 303 w 308"/>
                  <a:gd name="T9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8" h="139">
                    <a:moveTo>
                      <a:pt x="303" y="139"/>
                    </a:moveTo>
                    <a:lnTo>
                      <a:pt x="0" y="9"/>
                    </a:lnTo>
                    <a:lnTo>
                      <a:pt x="5" y="0"/>
                    </a:lnTo>
                    <a:lnTo>
                      <a:pt x="308" y="127"/>
                    </a:lnTo>
                    <a:lnTo>
                      <a:pt x="303" y="1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Freeform 107"/>
              <p:cNvSpPr/>
              <p:nvPr/>
            </p:nvSpPr>
            <p:spPr bwMode="auto">
              <a:xfrm>
                <a:off x="2571" y="814"/>
                <a:ext cx="331" cy="78"/>
              </a:xfrm>
              <a:custGeom>
                <a:avLst/>
                <a:gdLst>
                  <a:gd name="T0" fmla="*/ 2 w 331"/>
                  <a:gd name="T1" fmla="*/ 78 h 78"/>
                  <a:gd name="T2" fmla="*/ 0 w 331"/>
                  <a:gd name="T3" fmla="*/ 66 h 78"/>
                  <a:gd name="T4" fmla="*/ 328 w 331"/>
                  <a:gd name="T5" fmla="*/ 0 h 78"/>
                  <a:gd name="T6" fmla="*/ 331 w 331"/>
                  <a:gd name="T7" fmla="*/ 12 h 78"/>
                  <a:gd name="T8" fmla="*/ 2 w 331"/>
                  <a:gd name="T9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1" h="78">
                    <a:moveTo>
                      <a:pt x="2" y="78"/>
                    </a:moveTo>
                    <a:lnTo>
                      <a:pt x="0" y="66"/>
                    </a:lnTo>
                    <a:lnTo>
                      <a:pt x="328" y="0"/>
                    </a:lnTo>
                    <a:lnTo>
                      <a:pt x="331" y="12"/>
                    </a:lnTo>
                    <a:lnTo>
                      <a:pt x="2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Freeform 108"/>
              <p:cNvSpPr/>
              <p:nvPr/>
            </p:nvSpPr>
            <p:spPr bwMode="auto">
              <a:xfrm>
                <a:off x="2895" y="819"/>
                <a:ext cx="94" cy="290"/>
              </a:xfrm>
              <a:custGeom>
                <a:avLst/>
                <a:gdLst>
                  <a:gd name="T0" fmla="*/ 82 w 94"/>
                  <a:gd name="T1" fmla="*/ 290 h 290"/>
                  <a:gd name="T2" fmla="*/ 0 w 94"/>
                  <a:gd name="T3" fmla="*/ 2 h 290"/>
                  <a:gd name="T4" fmla="*/ 11 w 94"/>
                  <a:gd name="T5" fmla="*/ 0 h 290"/>
                  <a:gd name="T6" fmla="*/ 94 w 94"/>
                  <a:gd name="T7" fmla="*/ 288 h 290"/>
                  <a:gd name="T8" fmla="*/ 82 w 94"/>
                  <a:gd name="T9" fmla="*/ 290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290">
                    <a:moveTo>
                      <a:pt x="82" y="290"/>
                    </a:moveTo>
                    <a:lnTo>
                      <a:pt x="0" y="2"/>
                    </a:lnTo>
                    <a:lnTo>
                      <a:pt x="11" y="0"/>
                    </a:lnTo>
                    <a:lnTo>
                      <a:pt x="94" y="288"/>
                    </a:lnTo>
                    <a:lnTo>
                      <a:pt x="82" y="2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Freeform 109"/>
              <p:cNvSpPr/>
              <p:nvPr/>
            </p:nvSpPr>
            <p:spPr bwMode="auto">
              <a:xfrm>
                <a:off x="2762" y="823"/>
                <a:ext cx="142" cy="305"/>
              </a:xfrm>
              <a:custGeom>
                <a:avLst/>
                <a:gdLst>
                  <a:gd name="T0" fmla="*/ 10 w 142"/>
                  <a:gd name="T1" fmla="*/ 305 h 305"/>
                  <a:gd name="T2" fmla="*/ 0 w 142"/>
                  <a:gd name="T3" fmla="*/ 300 h 305"/>
                  <a:gd name="T4" fmla="*/ 130 w 142"/>
                  <a:gd name="T5" fmla="*/ 0 h 305"/>
                  <a:gd name="T6" fmla="*/ 142 w 142"/>
                  <a:gd name="T7" fmla="*/ 5 h 305"/>
                  <a:gd name="T8" fmla="*/ 10 w 142"/>
                  <a:gd name="T9" fmla="*/ 305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305">
                    <a:moveTo>
                      <a:pt x="10" y="305"/>
                    </a:moveTo>
                    <a:lnTo>
                      <a:pt x="0" y="300"/>
                    </a:lnTo>
                    <a:lnTo>
                      <a:pt x="130" y="0"/>
                    </a:lnTo>
                    <a:lnTo>
                      <a:pt x="142" y="5"/>
                    </a:lnTo>
                    <a:lnTo>
                      <a:pt x="10" y="30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Freeform 110"/>
              <p:cNvSpPr/>
              <p:nvPr/>
            </p:nvSpPr>
            <p:spPr bwMode="auto">
              <a:xfrm>
                <a:off x="2550" y="887"/>
                <a:ext cx="28" cy="373"/>
              </a:xfrm>
              <a:custGeom>
                <a:avLst/>
                <a:gdLst>
                  <a:gd name="T0" fmla="*/ 12 w 28"/>
                  <a:gd name="T1" fmla="*/ 373 h 373"/>
                  <a:gd name="T2" fmla="*/ 0 w 28"/>
                  <a:gd name="T3" fmla="*/ 373 h 373"/>
                  <a:gd name="T4" fmla="*/ 16 w 28"/>
                  <a:gd name="T5" fmla="*/ 0 h 373"/>
                  <a:gd name="T6" fmla="*/ 28 w 28"/>
                  <a:gd name="T7" fmla="*/ 0 h 373"/>
                  <a:gd name="T8" fmla="*/ 12 w 28"/>
                  <a:gd name="T9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73">
                    <a:moveTo>
                      <a:pt x="12" y="373"/>
                    </a:moveTo>
                    <a:lnTo>
                      <a:pt x="0" y="373"/>
                    </a:lnTo>
                    <a:lnTo>
                      <a:pt x="16" y="0"/>
                    </a:lnTo>
                    <a:lnTo>
                      <a:pt x="28" y="0"/>
                    </a:lnTo>
                    <a:lnTo>
                      <a:pt x="12" y="3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Freeform 111"/>
              <p:cNvSpPr/>
              <p:nvPr/>
            </p:nvSpPr>
            <p:spPr bwMode="auto">
              <a:xfrm>
                <a:off x="2977" y="1107"/>
                <a:ext cx="121" cy="281"/>
              </a:xfrm>
              <a:custGeom>
                <a:avLst/>
                <a:gdLst>
                  <a:gd name="T0" fmla="*/ 109 w 121"/>
                  <a:gd name="T1" fmla="*/ 281 h 281"/>
                  <a:gd name="T2" fmla="*/ 0 w 121"/>
                  <a:gd name="T3" fmla="*/ 2 h 281"/>
                  <a:gd name="T4" fmla="*/ 12 w 121"/>
                  <a:gd name="T5" fmla="*/ 0 h 281"/>
                  <a:gd name="T6" fmla="*/ 121 w 121"/>
                  <a:gd name="T7" fmla="*/ 276 h 281"/>
                  <a:gd name="T8" fmla="*/ 109 w 121"/>
                  <a:gd name="T9" fmla="*/ 281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281">
                    <a:moveTo>
                      <a:pt x="109" y="281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121" y="276"/>
                    </a:lnTo>
                    <a:lnTo>
                      <a:pt x="109" y="2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Freeform 112"/>
              <p:cNvSpPr/>
              <p:nvPr/>
            </p:nvSpPr>
            <p:spPr bwMode="auto">
              <a:xfrm>
                <a:off x="2769" y="1126"/>
                <a:ext cx="74" cy="224"/>
              </a:xfrm>
              <a:custGeom>
                <a:avLst/>
                <a:gdLst>
                  <a:gd name="T0" fmla="*/ 62 w 74"/>
                  <a:gd name="T1" fmla="*/ 224 h 224"/>
                  <a:gd name="T2" fmla="*/ 0 w 74"/>
                  <a:gd name="T3" fmla="*/ 5 h 224"/>
                  <a:gd name="T4" fmla="*/ 12 w 74"/>
                  <a:gd name="T5" fmla="*/ 0 h 224"/>
                  <a:gd name="T6" fmla="*/ 74 w 74"/>
                  <a:gd name="T7" fmla="*/ 222 h 224"/>
                  <a:gd name="T8" fmla="*/ 62 w 74"/>
                  <a:gd name="T9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224">
                    <a:moveTo>
                      <a:pt x="62" y="224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74" y="222"/>
                    </a:lnTo>
                    <a:lnTo>
                      <a:pt x="62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Freeform 113"/>
              <p:cNvSpPr/>
              <p:nvPr/>
            </p:nvSpPr>
            <p:spPr bwMode="auto">
              <a:xfrm>
                <a:off x="2836" y="1109"/>
                <a:ext cx="148" cy="248"/>
              </a:xfrm>
              <a:custGeom>
                <a:avLst/>
                <a:gdLst>
                  <a:gd name="T0" fmla="*/ 9 w 148"/>
                  <a:gd name="T1" fmla="*/ 248 h 248"/>
                  <a:gd name="T2" fmla="*/ 0 w 148"/>
                  <a:gd name="T3" fmla="*/ 244 h 248"/>
                  <a:gd name="T4" fmla="*/ 139 w 148"/>
                  <a:gd name="T5" fmla="*/ 0 h 248"/>
                  <a:gd name="T6" fmla="*/ 148 w 148"/>
                  <a:gd name="T7" fmla="*/ 7 h 248"/>
                  <a:gd name="T8" fmla="*/ 9 w 148"/>
                  <a:gd name="T9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248">
                    <a:moveTo>
                      <a:pt x="9" y="248"/>
                    </a:moveTo>
                    <a:lnTo>
                      <a:pt x="0" y="244"/>
                    </a:lnTo>
                    <a:lnTo>
                      <a:pt x="139" y="0"/>
                    </a:lnTo>
                    <a:lnTo>
                      <a:pt x="148" y="7"/>
                    </a:lnTo>
                    <a:lnTo>
                      <a:pt x="9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 114"/>
              <p:cNvSpPr/>
              <p:nvPr/>
            </p:nvSpPr>
            <p:spPr bwMode="auto">
              <a:xfrm>
                <a:off x="2987" y="1105"/>
                <a:ext cx="255" cy="160"/>
              </a:xfrm>
              <a:custGeom>
                <a:avLst/>
                <a:gdLst>
                  <a:gd name="T0" fmla="*/ 250 w 255"/>
                  <a:gd name="T1" fmla="*/ 160 h 160"/>
                  <a:gd name="T2" fmla="*/ 0 w 255"/>
                  <a:gd name="T3" fmla="*/ 9 h 160"/>
                  <a:gd name="T4" fmla="*/ 5 w 255"/>
                  <a:gd name="T5" fmla="*/ 0 h 160"/>
                  <a:gd name="T6" fmla="*/ 255 w 255"/>
                  <a:gd name="T7" fmla="*/ 151 h 160"/>
                  <a:gd name="T8" fmla="*/ 250 w 255"/>
                  <a:gd name="T9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5" h="160">
                    <a:moveTo>
                      <a:pt x="250" y="160"/>
                    </a:moveTo>
                    <a:lnTo>
                      <a:pt x="0" y="9"/>
                    </a:lnTo>
                    <a:lnTo>
                      <a:pt x="5" y="0"/>
                    </a:lnTo>
                    <a:lnTo>
                      <a:pt x="255" y="151"/>
                    </a:lnTo>
                    <a:lnTo>
                      <a:pt x="250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Freeform 115"/>
              <p:cNvSpPr/>
              <p:nvPr/>
            </p:nvSpPr>
            <p:spPr bwMode="auto">
              <a:xfrm>
                <a:off x="3235" y="1263"/>
                <a:ext cx="165" cy="217"/>
              </a:xfrm>
              <a:custGeom>
                <a:avLst/>
                <a:gdLst>
                  <a:gd name="T0" fmla="*/ 156 w 165"/>
                  <a:gd name="T1" fmla="*/ 217 h 217"/>
                  <a:gd name="T2" fmla="*/ 0 w 165"/>
                  <a:gd name="T3" fmla="*/ 7 h 217"/>
                  <a:gd name="T4" fmla="*/ 9 w 165"/>
                  <a:gd name="T5" fmla="*/ 0 h 217"/>
                  <a:gd name="T6" fmla="*/ 165 w 165"/>
                  <a:gd name="T7" fmla="*/ 212 h 217"/>
                  <a:gd name="T8" fmla="*/ 156 w 165"/>
                  <a:gd name="T9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217">
                    <a:moveTo>
                      <a:pt x="156" y="217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165" y="212"/>
                    </a:lnTo>
                    <a:lnTo>
                      <a:pt x="156" y="2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Freeform 116"/>
              <p:cNvSpPr/>
              <p:nvPr/>
            </p:nvSpPr>
            <p:spPr bwMode="auto">
              <a:xfrm>
                <a:off x="3150" y="1270"/>
                <a:ext cx="94" cy="321"/>
              </a:xfrm>
              <a:custGeom>
                <a:avLst/>
                <a:gdLst>
                  <a:gd name="T0" fmla="*/ 9 w 94"/>
                  <a:gd name="T1" fmla="*/ 321 h 321"/>
                  <a:gd name="T2" fmla="*/ 0 w 94"/>
                  <a:gd name="T3" fmla="*/ 319 h 321"/>
                  <a:gd name="T4" fmla="*/ 83 w 94"/>
                  <a:gd name="T5" fmla="*/ 0 h 321"/>
                  <a:gd name="T6" fmla="*/ 94 w 94"/>
                  <a:gd name="T7" fmla="*/ 2 h 321"/>
                  <a:gd name="T8" fmla="*/ 9 w 94"/>
                  <a:gd name="T9" fmla="*/ 321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321">
                    <a:moveTo>
                      <a:pt x="9" y="321"/>
                    </a:moveTo>
                    <a:lnTo>
                      <a:pt x="0" y="319"/>
                    </a:lnTo>
                    <a:lnTo>
                      <a:pt x="83" y="0"/>
                    </a:lnTo>
                    <a:lnTo>
                      <a:pt x="94" y="2"/>
                    </a:lnTo>
                    <a:lnTo>
                      <a:pt x="9" y="3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Freeform 117"/>
              <p:cNvSpPr/>
              <p:nvPr/>
            </p:nvSpPr>
            <p:spPr bwMode="auto">
              <a:xfrm>
                <a:off x="2838" y="1357"/>
                <a:ext cx="158" cy="284"/>
              </a:xfrm>
              <a:custGeom>
                <a:avLst/>
                <a:gdLst>
                  <a:gd name="T0" fmla="*/ 149 w 158"/>
                  <a:gd name="T1" fmla="*/ 284 h 284"/>
                  <a:gd name="T2" fmla="*/ 0 w 158"/>
                  <a:gd name="T3" fmla="*/ 5 h 284"/>
                  <a:gd name="T4" fmla="*/ 9 w 158"/>
                  <a:gd name="T5" fmla="*/ 0 h 284"/>
                  <a:gd name="T6" fmla="*/ 158 w 158"/>
                  <a:gd name="T7" fmla="*/ 277 h 284"/>
                  <a:gd name="T8" fmla="*/ 149 w 158"/>
                  <a:gd name="T9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284">
                    <a:moveTo>
                      <a:pt x="149" y="284"/>
                    </a:moveTo>
                    <a:lnTo>
                      <a:pt x="0" y="5"/>
                    </a:lnTo>
                    <a:lnTo>
                      <a:pt x="9" y="0"/>
                    </a:lnTo>
                    <a:lnTo>
                      <a:pt x="158" y="277"/>
                    </a:lnTo>
                    <a:lnTo>
                      <a:pt x="149" y="2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Freeform 118"/>
              <p:cNvSpPr/>
              <p:nvPr/>
            </p:nvSpPr>
            <p:spPr bwMode="auto">
              <a:xfrm>
                <a:off x="2987" y="1390"/>
                <a:ext cx="109" cy="246"/>
              </a:xfrm>
              <a:custGeom>
                <a:avLst/>
                <a:gdLst>
                  <a:gd name="T0" fmla="*/ 9 w 109"/>
                  <a:gd name="T1" fmla="*/ 246 h 246"/>
                  <a:gd name="T2" fmla="*/ 0 w 109"/>
                  <a:gd name="T3" fmla="*/ 241 h 246"/>
                  <a:gd name="T4" fmla="*/ 99 w 109"/>
                  <a:gd name="T5" fmla="*/ 0 h 246"/>
                  <a:gd name="T6" fmla="*/ 109 w 109"/>
                  <a:gd name="T7" fmla="*/ 5 h 246"/>
                  <a:gd name="T8" fmla="*/ 9 w 109"/>
                  <a:gd name="T9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246">
                    <a:moveTo>
                      <a:pt x="9" y="246"/>
                    </a:moveTo>
                    <a:lnTo>
                      <a:pt x="0" y="241"/>
                    </a:lnTo>
                    <a:lnTo>
                      <a:pt x="99" y="0"/>
                    </a:lnTo>
                    <a:lnTo>
                      <a:pt x="109" y="5"/>
                    </a:lnTo>
                    <a:lnTo>
                      <a:pt x="9" y="2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Freeform 119"/>
              <p:cNvSpPr/>
              <p:nvPr/>
            </p:nvSpPr>
            <p:spPr bwMode="auto">
              <a:xfrm>
                <a:off x="2850" y="1634"/>
                <a:ext cx="142" cy="196"/>
              </a:xfrm>
              <a:custGeom>
                <a:avLst/>
                <a:gdLst>
                  <a:gd name="T0" fmla="*/ 9 w 142"/>
                  <a:gd name="T1" fmla="*/ 196 h 196"/>
                  <a:gd name="T2" fmla="*/ 0 w 142"/>
                  <a:gd name="T3" fmla="*/ 189 h 196"/>
                  <a:gd name="T4" fmla="*/ 132 w 142"/>
                  <a:gd name="T5" fmla="*/ 0 h 196"/>
                  <a:gd name="T6" fmla="*/ 142 w 142"/>
                  <a:gd name="T7" fmla="*/ 7 h 196"/>
                  <a:gd name="T8" fmla="*/ 9 w 142"/>
                  <a:gd name="T9" fmla="*/ 196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96">
                    <a:moveTo>
                      <a:pt x="9" y="196"/>
                    </a:moveTo>
                    <a:lnTo>
                      <a:pt x="0" y="189"/>
                    </a:lnTo>
                    <a:lnTo>
                      <a:pt x="132" y="0"/>
                    </a:lnTo>
                    <a:lnTo>
                      <a:pt x="142" y="7"/>
                    </a:lnTo>
                    <a:lnTo>
                      <a:pt x="9" y="1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Freeform 120"/>
              <p:cNvSpPr/>
              <p:nvPr/>
            </p:nvSpPr>
            <p:spPr bwMode="auto">
              <a:xfrm>
                <a:off x="2850" y="1837"/>
                <a:ext cx="175" cy="205"/>
              </a:xfrm>
              <a:custGeom>
                <a:avLst/>
                <a:gdLst>
                  <a:gd name="T0" fmla="*/ 165 w 175"/>
                  <a:gd name="T1" fmla="*/ 205 h 205"/>
                  <a:gd name="T2" fmla="*/ 0 w 175"/>
                  <a:gd name="T3" fmla="*/ 7 h 205"/>
                  <a:gd name="T4" fmla="*/ 7 w 175"/>
                  <a:gd name="T5" fmla="*/ 0 h 205"/>
                  <a:gd name="T6" fmla="*/ 175 w 175"/>
                  <a:gd name="T7" fmla="*/ 198 h 205"/>
                  <a:gd name="T8" fmla="*/ 165 w 175"/>
                  <a:gd name="T9" fmla="*/ 205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205">
                    <a:moveTo>
                      <a:pt x="165" y="205"/>
                    </a:moveTo>
                    <a:lnTo>
                      <a:pt x="0" y="7"/>
                    </a:lnTo>
                    <a:lnTo>
                      <a:pt x="7" y="0"/>
                    </a:lnTo>
                    <a:lnTo>
                      <a:pt x="175" y="198"/>
                    </a:lnTo>
                    <a:lnTo>
                      <a:pt x="165" y="20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Freeform 121"/>
              <p:cNvSpPr/>
              <p:nvPr/>
            </p:nvSpPr>
            <p:spPr bwMode="auto">
              <a:xfrm>
                <a:off x="2616" y="1523"/>
                <a:ext cx="241" cy="321"/>
              </a:xfrm>
              <a:custGeom>
                <a:avLst/>
                <a:gdLst>
                  <a:gd name="T0" fmla="*/ 234 w 241"/>
                  <a:gd name="T1" fmla="*/ 321 h 321"/>
                  <a:gd name="T2" fmla="*/ 0 w 241"/>
                  <a:gd name="T3" fmla="*/ 7 h 321"/>
                  <a:gd name="T4" fmla="*/ 9 w 241"/>
                  <a:gd name="T5" fmla="*/ 0 h 321"/>
                  <a:gd name="T6" fmla="*/ 241 w 241"/>
                  <a:gd name="T7" fmla="*/ 316 h 321"/>
                  <a:gd name="T8" fmla="*/ 234 w 241"/>
                  <a:gd name="T9" fmla="*/ 321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1" h="321">
                    <a:moveTo>
                      <a:pt x="234" y="321"/>
                    </a:moveTo>
                    <a:lnTo>
                      <a:pt x="0" y="7"/>
                    </a:lnTo>
                    <a:lnTo>
                      <a:pt x="9" y="0"/>
                    </a:lnTo>
                    <a:lnTo>
                      <a:pt x="241" y="316"/>
                    </a:lnTo>
                    <a:lnTo>
                      <a:pt x="234" y="3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Oval 122"/>
              <p:cNvSpPr>
                <a:spLocks noChangeArrowheads="1"/>
              </p:cNvSpPr>
              <p:nvPr/>
            </p:nvSpPr>
            <p:spPr bwMode="auto">
              <a:xfrm>
                <a:off x="2786" y="1291"/>
                <a:ext cx="111" cy="11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Oval 123"/>
              <p:cNvSpPr>
                <a:spLocks noChangeArrowheads="1"/>
              </p:cNvSpPr>
              <p:nvPr/>
            </p:nvSpPr>
            <p:spPr bwMode="auto">
              <a:xfrm>
                <a:off x="2306" y="1591"/>
                <a:ext cx="111" cy="11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Oval 124"/>
              <p:cNvSpPr>
                <a:spLocks noChangeArrowheads="1"/>
              </p:cNvSpPr>
              <p:nvPr/>
            </p:nvSpPr>
            <p:spPr bwMode="auto">
              <a:xfrm>
                <a:off x="2798" y="2137"/>
                <a:ext cx="111" cy="11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Oval 125"/>
              <p:cNvSpPr>
                <a:spLocks noChangeArrowheads="1"/>
              </p:cNvSpPr>
              <p:nvPr/>
            </p:nvSpPr>
            <p:spPr bwMode="auto">
              <a:xfrm>
                <a:off x="2798" y="1579"/>
                <a:ext cx="111" cy="11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Oval 126"/>
              <p:cNvSpPr>
                <a:spLocks noChangeArrowheads="1"/>
              </p:cNvSpPr>
              <p:nvPr/>
            </p:nvSpPr>
            <p:spPr bwMode="auto">
              <a:xfrm>
                <a:off x="2781" y="1761"/>
                <a:ext cx="144" cy="144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Oval 127"/>
              <p:cNvSpPr>
                <a:spLocks noChangeArrowheads="1"/>
              </p:cNvSpPr>
              <p:nvPr/>
            </p:nvSpPr>
            <p:spPr bwMode="auto">
              <a:xfrm>
                <a:off x="3341" y="1421"/>
                <a:ext cx="114" cy="11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Oval 128"/>
              <p:cNvSpPr>
                <a:spLocks noChangeArrowheads="1"/>
              </p:cNvSpPr>
              <p:nvPr/>
            </p:nvSpPr>
            <p:spPr bwMode="auto">
              <a:xfrm>
                <a:off x="2524" y="835"/>
                <a:ext cx="111" cy="11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Oval 129"/>
              <p:cNvSpPr>
                <a:spLocks noChangeArrowheads="1"/>
              </p:cNvSpPr>
              <p:nvPr/>
            </p:nvSpPr>
            <p:spPr bwMode="auto">
              <a:xfrm>
                <a:off x="2521" y="1227"/>
                <a:ext cx="81" cy="8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Oval 130"/>
              <p:cNvSpPr>
                <a:spLocks noChangeArrowheads="1"/>
              </p:cNvSpPr>
              <p:nvPr/>
            </p:nvSpPr>
            <p:spPr bwMode="auto">
              <a:xfrm>
                <a:off x="2250" y="1249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Oval 131"/>
              <p:cNvSpPr>
                <a:spLocks noChangeArrowheads="1"/>
              </p:cNvSpPr>
              <p:nvPr/>
            </p:nvSpPr>
            <p:spPr bwMode="auto">
              <a:xfrm>
                <a:off x="2351" y="1001"/>
                <a:ext cx="81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Oval 132"/>
              <p:cNvSpPr>
                <a:spLocks noChangeArrowheads="1"/>
              </p:cNvSpPr>
              <p:nvPr/>
            </p:nvSpPr>
            <p:spPr bwMode="auto">
              <a:xfrm>
                <a:off x="2942" y="1069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Oval 133"/>
              <p:cNvSpPr>
                <a:spLocks noChangeArrowheads="1"/>
              </p:cNvSpPr>
              <p:nvPr/>
            </p:nvSpPr>
            <p:spPr bwMode="auto">
              <a:xfrm>
                <a:off x="3346" y="1109"/>
                <a:ext cx="80" cy="8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Oval 134"/>
              <p:cNvSpPr>
                <a:spLocks noChangeArrowheads="1"/>
              </p:cNvSpPr>
              <p:nvPr/>
            </p:nvSpPr>
            <p:spPr bwMode="auto">
              <a:xfrm>
                <a:off x="3110" y="1558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Oval 135"/>
              <p:cNvSpPr>
                <a:spLocks noChangeArrowheads="1"/>
              </p:cNvSpPr>
              <p:nvPr/>
            </p:nvSpPr>
            <p:spPr bwMode="auto">
              <a:xfrm>
                <a:off x="3204" y="1225"/>
                <a:ext cx="78" cy="78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Oval 136"/>
              <p:cNvSpPr>
                <a:spLocks noChangeArrowheads="1"/>
              </p:cNvSpPr>
              <p:nvPr/>
            </p:nvSpPr>
            <p:spPr bwMode="auto">
              <a:xfrm>
                <a:off x="2491" y="1962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Oval 137"/>
              <p:cNvSpPr>
                <a:spLocks noChangeArrowheads="1"/>
              </p:cNvSpPr>
              <p:nvPr/>
            </p:nvSpPr>
            <p:spPr bwMode="auto">
              <a:xfrm>
                <a:off x="3136" y="1901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Oval 138"/>
              <p:cNvSpPr>
                <a:spLocks noChangeArrowheads="1"/>
              </p:cNvSpPr>
              <p:nvPr/>
            </p:nvSpPr>
            <p:spPr bwMode="auto">
              <a:xfrm>
                <a:off x="2746" y="1102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Oval 139"/>
              <p:cNvSpPr>
                <a:spLocks noChangeArrowheads="1"/>
              </p:cNvSpPr>
              <p:nvPr/>
            </p:nvSpPr>
            <p:spPr bwMode="auto">
              <a:xfrm>
                <a:off x="2422" y="1395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Oval 140"/>
              <p:cNvSpPr>
                <a:spLocks noChangeArrowheads="1"/>
              </p:cNvSpPr>
              <p:nvPr/>
            </p:nvSpPr>
            <p:spPr bwMode="auto">
              <a:xfrm>
                <a:off x="2573" y="1357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Oval 141"/>
              <p:cNvSpPr>
                <a:spLocks noChangeArrowheads="1"/>
              </p:cNvSpPr>
              <p:nvPr/>
            </p:nvSpPr>
            <p:spPr bwMode="auto">
              <a:xfrm>
                <a:off x="3065" y="1362"/>
                <a:ext cx="59" cy="57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Oval 142"/>
              <p:cNvSpPr>
                <a:spLocks noChangeArrowheads="1"/>
              </p:cNvSpPr>
              <p:nvPr/>
            </p:nvSpPr>
            <p:spPr bwMode="auto">
              <a:xfrm>
                <a:off x="2968" y="1610"/>
                <a:ext cx="57" cy="57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Oval 143"/>
              <p:cNvSpPr>
                <a:spLocks noChangeArrowheads="1"/>
              </p:cNvSpPr>
              <p:nvPr/>
            </p:nvSpPr>
            <p:spPr bwMode="auto">
              <a:xfrm>
                <a:off x="2873" y="790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Oval 144"/>
              <p:cNvSpPr>
                <a:spLocks noChangeArrowheads="1"/>
              </p:cNvSpPr>
              <p:nvPr/>
            </p:nvSpPr>
            <p:spPr bwMode="auto">
              <a:xfrm>
                <a:off x="3178" y="923"/>
                <a:ext cx="57" cy="56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Oval 145"/>
              <p:cNvSpPr>
                <a:spLocks noChangeArrowheads="1"/>
              </p:cNvSpPr>
              <p:nvPr/>
            </p:nvSpPr>
            <p:spPr bwMode="auto">
              <a:xfrm>
                <a:off x="3254" y="1707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Oval 146"/>
              <p:cNvSpPr>
                <a:spLocks noChangeArrowheads="1"/>
              </p:cNvSpPr>
              <p:nvPr/>
            </p:nvSpPr>
            <p:spPr bwMode="auto">
              <a:xfrm>
                <a:off x="3119" y="2139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Oval 147"/>
              <p:cNvSpPr>
                <a:spLocks noChangeArrowheads="1"/>
              </p:cNvSpPr>
              <p:nvPr/>
            </p:nvSpPr>
            <p:spPr bwMode="auto">
              <a:xfrm>
                <a:off x="2994" y="2170"/>
                <a:ext cx="57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Oval 148"/>
              <p:cNvSpPr>
                <a:spLocks noChangeArrowheads="1"/>
              </p:cNvSpPr>
              <p:nvPr/>
            </p:nvSpPr>
            <p:spPr bwMode="auto">
              <a:xfrm>
                <a:off x="2557" y="2172"/>
                <a:ext cx="56" cy="59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Oval 149"/>
              <p:cNvSpPr>
                <a:spLocks noChangeArrowheads="1"/>
              </p:cNvSpPr>
              <p:nvPr/>
            </p:nvSpPr>
            <p:spPr bwMode="auto">
              <a:xfrm>
                <a:off x="2618" y="1735"/>
                <a:ext cx="81" cy="8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Oval 150"/>
              <p:cNvSpPr>
                <a:spLocks noChangeArrowheads="1"/>
              </p:cNvSpPr>
              <p:nvPr/>
            </p:nvSpPr>
            <p:spPr bwMode="auto">
              <a:xfrm>
                <a:off x="2989" y="1809"/>
                <a:ext cx="81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Oval 151"/>
              <p:cNvSpPr>
                <a:spLocks noChangeArrowheads="1"/>
              </p:cNvSpPr>
              <p:nvPr/>
            </p:nvSpPr>
            <p:spPr bwMode="auto">
              <a:xfrm>
                <a:off x="2994" y="2009"/>
                <a:ext cx="80" cy="81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254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Oval 152"/>
              <p:cNvSpPr>
                <a:spLocks noChangeArrowheads="1"/>
              </p:cNvSpPr>
              <p:nvPr/>
            </p:nvSpPr>
            <p:spPr bwMode="auto">
              <a:xfrm>
                <a:off x="2694" y="1991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Oval 153"/>
              <p:cNvSpPr>
                <a:spLocks noChangeArrowheads="1"/>
              </p:cNvSpPr>
              <p:nvPr/>
            </p:nvSpPr>
            <p:spPr bwMode="auto">
              <a:xfrm>
                <a:off x="2583" y="1483"/>
                <a:ext cx="80" cy="80"/>
              </a:xfrm>
              <a:prstGeom prst="ellips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 h="12700"/>
                <a:bevelB/>
              </a:sp3d>
            </p:spPr>
            <p:txBody>
              <a:bodyPr rtlCol="0" anchor="ctr"/>
              <a:lstStyle/>
              <a:p>
                <a:pPr algn="ctr"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Freeform 154"/>
              <p:cNvSpPr/>
              <p:nvPr/>
            </p:nvSpPr>
            <p:spPr bwMode="auto">
              <a:xfrm>
                <a:off x="2810" y="1787"/>
                <a:ext cx="87" cy="90"/>
              </a:xfrm>
              <a:custGeom>
                <a:avLst/>
                <a:gdLst>
                  <a:gd name="T0" fmla="*/ 18 w 37"/>
                  <a:gd name="T1" fmla="*/ 38 h 38"/>
                  <a:gd name="T2" fmla="*/ 14 w 37"/>
                  <a:gd name="T3" fmla="*/ 33 h 38"/>
                  <a:gd name="T4" fmla="*/ 14 w 37"/>
                  <a:gd name="T5" fmla="*/ 23 h 38"/>
                  <a:gd name="T6" fmla="*/ 4 w 37"/>
                  <a:gd name="T7" fmla="*/ 23 h 38"/>
                  <a:gd name="T8" fmla="*/ 0 w 37"/>
                  <a:gd name="T9" fmla="*/ 19 h 38"/>
                  <a:gd name="T10" fmla="*/ 4 w 37"/>
                  <a:gd name="T11" fmla="*/ 15 h 38"/>
                  <a:gd name="T12" fmla="*/ 14 w 37"/>
                  <a:gd name="T13" fmla="*/ 15 h 38"/>
                  <a:gd name="T14" fmla="*/ 14 w 37"/>
                  <a:gd name="T15" fmla="*/ 4 h 38"/>
                  <a:gd name="T16" fmla="*/ 18 w 37"/>
                  <a:gd name="T17" fmla="*/ 0 h 38"/>
                  <a:gd name="T18" fmla="*/ 23 w 37"/>
                  <a:gd name="T19" fmla="*/ 4 h 38"/>
                  <a:gd name="T20" fmla="*/ 23 w 37"/>
                  <a:gd name="T21" fmla="*/ 15 h 38"/>
                  <a:gd name="T22" fmla="*/ 33 w 37"/>
                  <a:gd name="T23" fmla="*/ 15 h 38"/>
                  <a:gd name="T24" fmla="*/ 37 w 37"/>
                  <a:gd name="T25" fmla="*/ 19 h 38"/>
                  <a:gd name="T26" fmla="*/ 33 w 37"/>
                  <a:gd name="T27" fmla="*/ 23 h 38"/>
                  <a:gd name="T28" fmla="*/ 23 w 37"/>
                  <a:gd name="T29" fmla="*/ 23 h 38"/>
                  <a:gd name="T30" fmla="*/ 23 w 37"/>
                  <a:gd name="T31" fmla="*/ 33 h 38"/>
                  <a:gd name="T32" fmla="*/ 18 w 37"/>
                  <a:gd name="T33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7" h="38">
                    <a:moveTo>
                      <a:pt x="18" y="38"/>
                    </a:moveTo>
                    <a:cubicBezTo>
                      <a:pt x="16" y="38"/>
                      <a:pt x="14" y="36"/>
                      <a:pt x="14" y="3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2" y="23"/>
                      <a:pt x="0" y="21"/>
                      <a:pt x="0" y="19"/>
                    </a:cubicBezTo>
                    <a:cubicBezTo>
                      <a:pt x="0" y="17"/>
                      <a:pt x="2" y="15"/>
                      <a:pt x="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2"/>
                      <a:pt x="16" y="0"/>
                      <a:pt x="18" y="0"/>
                    </a:cubicBezTo>
                    <a:cubicBezTo>
                      <a:pt x="21" y="0"/>
                      <a:pt x="23" y="2"/>
                      <a:pt x="23" y="4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5" y="15"/>
                      <a:pt x="37" y="17"/>
                      <a:pt x="37" y="19"/>
                    </a:cubicBezTo>
                    <a:cubicBezTo>
                      <a:pt x="37" y="21"/>
                      <a:pt x="35" y="23"/>
                      <a:pt x="3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6"/>
                      <a:pt x="21" y="38"/>
                      <a:pt x="18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728" tIns="54864" rIns="109728" bIns="54864" numCol="1" anchor="t" anchorCtr="0" compatLnSpc="1"/>
              <a:lstStyle/>
              <a:p>
                <a:pPr defTabSz="146240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60" kern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87" name="矩形 186"/>
          <p:cNvSpPr/>
          <p:nvPr/>
        </p:nvSpPr>
        <p:spPr>
          <a:xfrm>
            <a:off x="2088817" y="3572761"/>
            <a:ext cx="2300698" cy="391795"/>
          </a:xfrm>
          <a:prstGeom prst="rect">
            <a:avLst/>
          </a:prstGeom>
        </p:spPr>
        <p:txBody>
          <a:bodyPr wrap="square" lIns="146272" tIns="73135" rIns="146272" bIns="73135">
            <a:spAutoFit/>
          </a:bodyPr>
          <a:lstStyle/>
          <a:p>
            <a:pPr algn="just" defTabSz="1462405" fontAlgn="base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IPM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与地面投影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5879412" y="1745069"/>
            <a:ext cx="338978" cy="338978"/>
            <a:chOff x="2798757" y="2999947"/>
            <a:chExt cx="211861" cy="211861"/>
          </a:xfrm>
        </p:grpSpPr>
        <p:sp>
          <p:nvSpPr>
            <p:cNvPr id="189" name="椭圆 188"/>
            <p:cNvSpPr/>
            <p:nvPr/>
          </p:nvSpPr>
          <p:spPr>
            <a:xfrm>
              <a:off x="2798757" y="2999947"/>
              <a:ext cx="211861" cy="211861"/>
            </a:xfrm>
            <a:prstGeom prst="ellipse">
              <a:avLst/>
            </a:prstGeom>
            <a:solidFill>
              <a:srgbClr val="013B6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4624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60" ker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90" name="Freeform 154"/>
            <p:cNvSpPr/>
            <p:nvPr/>
          </p:nvSpPr>
          <p:spPr bwMode="auto">
            <a:xfrm>
              <a:off x="2838622" y="3032686"/>
              <a:ext cx="132129" cy="136685"/>
            </a:xfrm>
            <a:custGeom>
              <a:avLst/>
              <a:gdLst>
                <a:gd name="T0" fmla="*/ 18 w 37"/>
                <a:gd name="T1" fmla="*/ 38 h 38"/>
                <a:gd name="T2" fmla="*/ 14 w 37"/>
                <a:gd name="T3" fmla="*/ 33 h 38"/>
                <a:gd name="T4" fmla="*/ 14 w 37"/>
                <a:gd name="T5" fmla="*/ 23 h 38"/>
                <a:gd name="T6" fmla="*/ 4 w 37"/>
                <a:gd name="T7" fmla="*/ 23 h 38"/>
                <a:gd name="T8" fmla="*/ 0 w 37"/>
                <a:gd name="T9" fmla="*/ 19 h 38"/>
                <a:gd name="T10" fmla="*/ 4 w 37"/>
                <a:gd name="T11" fmla="*/ 15 h 38"/>
                <a:gd name="T12" fmla="*/ 14 w 37"/>
                <a:gd name="T13" fmla="*/ 15 h 38"/>
                <a:gd name="T14" fmla="*/ 14 w 37"/>
                <a:gd name="T15" fmla="*/ 4 h 38"/>
                <a:gd name="T16" fmla="*/ 18 w 37"/>
                <a:gd name="T17" fmla="*/ 0 h 38"/>
                <a:gd name="T18" fmla="*/ 23 w 37"/>
                <a:gd name="T19" fmla="*/ 4 h 38"/>
                <a:gd name="T20" fmla="*/ 23 w 37"/>
                <a:gd name="T21" fmla="*/ 15 h 38"/>
                <a:gd name="T22" fmla="*/ 33 w 37"/>
                <a:gd name="T23" fmla="*/ 15 h 38"/>
                <a:gd name="T24" fmla="*/ 37 w 37"/>
                <a:gd name="T25" fmla="*/ 19 h 38"/>
                <a:gd name="T26" fmla="*/ 33 w 37"/>
                <a:gd name="T27" fmla="*/ 23 h 38"/>
                <a:gd name="T28" fmla="*/ 23 w 37"/>
                <a:gd name="T29" fmla="*/ 23 h 38"/>
                <a:gd name="T30" fmla="*/ 23 w 37"/>
                <a:gd name="T31" fmla="*/ 33 h 38"/>
                <a:gd name="T32" fmla="*/ 18 w 37"/>
                <a:gd name="T3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38">
                  <a:moveTo>
                    <a:pt x="18" y="38"/>
                  </a:moveTo>
                  <a:cubicBezTo>
                    <a:pt x="16" y="38"/>
                    <a:pt x="14" y="36"/>
                    <a:pt x="14" y="3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23"/>
                    <a:pt x="0" y="21"/>
                    <a:pt x="0" y="19"/>
                  </a:cubicBezTo>
                  <a:cubicBezTo>
                    <a:pt x="0" y="17"/>
                    <a:pt x="2" y="15"/>
                    <a:pt x="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2"/>
                    <a:pt x="16" y="0"/>
                    <a:pt x="18" y="0"/>
                  </a:cubicBezTo>
                  <a:cubicBezTo>
                    <a:pt x="21" y="0"/>
                    <a:pt x="23" y="2"/>
                    <a:pt x="23" y="4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5" y="15"/>
                    <a:pt x="37" y="17"/>
                    <a:pt x="37" y="19"/>
                  </a:cubicBezTo>
                  <a:cubicBezTo>
                    <a:pt x="37" y="21"/>
                    <a:pt x="35" y="23"/>
                    <a:pt x="3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6"/>
                    <a:pt x="21" y="38"/>
                    <a:pt x="18" y="38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09728" tIns="54864" rIns="109728" bIns="54864" numCol="1" anchor="t" anchorCtr="0" compatLnSpc="1"/>
            <a:lstStyle/>
            <a:p>
              <a:pPr defTabSz="14624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160" kern="0">
                <a:solidFill>
                  <a:prstClr val="black"/>
                </a:solidFill>
              </a:endParaRPr>
            </a:p>
          </p:txBody>
        </p:sp>
      </p:grpSp>
      <p:sp>
        <p:nvSpPr>
          <p:cNvPr id="191" name="矩形 190"/>
          <p:cNvSpPr/>
          <p:nvPr/>
        </p:nvSpPr>
        <p:spPr>
          <a:xfrm flipH="1">
            <a:off x="2088817" y="1478116"/>
            <a:ext cx="3634483" cy="2407920"/>
          </a:xfrm>
          <a:prstGeom prst="rect">
            <a:avLst/>
          </a:prstGeom>
          <a:solidFill>
            <a:srgbClr val="FFFFCC"/>
          </a:solidFill>
          <a:effectLst/>
        </p:spPr>
        <p:txBody>
          <a:bodyPr wrap="square" lIns="146272" tIns="73135" rIns="146272" bIns="73135">
            <a:spAutoFit/>
          </a:bodyPr>
          <a:lstStyle/>
          <a:p>
            <a:pPr defTabSz="146240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Δw/Δt ≈ (w_now − w_3frames_ago)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FPS/3
TTC ≈ w_now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÷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(Δw/Δt)
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宽度先经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EMA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平滑；近距大目标可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帧起算。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可用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IPM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距离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TTC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与视觉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TTC </a:t>
            </a:r>
            <a:r>
              <a:rPr lang="zh-CN" altLang="en-US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取较小值。</a:t>
            </a:r>
            <a:r>
              <a:rPr lang="en-US" altLang="zh-CN" sz="14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</a:t>
            </a:r>
            <a:endParaRPr lang="en-US" altLang="zh-CN" sz="140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2088817" y="966888"/>
            <a:ext cx="3960082" cy="422910"/>
          </a:xfrm>
          <a:prstGeom prst="rect">
            <a:avLst/>
          </a:prstGeom>
        </p:spPr>
        <p:txBody>
          <a:bodyPr wrap="square" lIns="146272" tIns="73135" rIns="146272" bIns="73135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TTC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（基于视觉扩张）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6" name="矩形 195"/>
          <p:cNvSpPr/>
          <p:nvPr/>
        </p:nvSpPr>
        <p:spPr>
          <a:xfrm flipH="1">
            <a:off x="7955851" y="1656896"/>
            <a:ext cx="4025738" cy="1080770"/>
          </a:xfrm>
          <a:prstGeom prst="rect">
            <a:avLst/>
          </a:prstGeom>
          <a:solidFill>
            <a:srgbClr val="CCECFF"/>
          </a:solidFill>
          <a:effectLst/>
        </p:spPr>
        <p:txBody>
          <a:bodyPr wrap="square" lIns="146272" tIns="73135" rIns="146272" bIns="73135">
            <a:spAutoFit/>
          </a:bodyPr>
          <a:lstStyle/>
          <a:p>
            <a:pPr defTabSz="146240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TTL = dₓ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÷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|vₓ|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（持续靠近且速度超过阈值时）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BSD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按横向距离监控；位置与速度历史经平滑。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结合距离、靠近趋势和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TTL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 / 1 / 2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级风险。</a:t>
            </a:r>
            <a:endParaRPr lang="zh-CN" altLang="en-US" sz="135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7955851" y="906303"/>
            <a:ext cx="4025738" cy="391795"/>
          </a:xfrm>
          <a:prstGeom prst="rect">
            <a:avLst/>
          </a:prstGeom>
        </p:spPr>
        <p:txBody>
          <a:bodyPr wrap="square" lIns="146272" tIns="73135" rIns="146272" bIns="73135">
            <a:spAutoFit/>
          </a:bodyPr>
          <a:lstStyle/>
          <a:p>
            <a:pPr algn="just" defTabSz="1462405" fontAlgn="base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侧向风险：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BSD / TTL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1" name="矩形 200"/>
          <p:cNvSpPr/>
          <p:nvPr/>
        </p:nvSpPr>
        <p:spPr>
          <a:xfrm flipH="1">
            <a:off x="7955850" y="3956268"/>
            <a:ext cx="4025739" cy="1703705"/>
          </a:xfrm>
          <a:prstGeom prst="rect">
            <a:avLst/>
          </a:prstGeom>
          <a:solidFill>
            <a:srgbClr val="CCCCFF"/>
          </a:solidFill>
          <a:effectLst/>
        </p:spPr>
        <p:txBody>
          <a:bodyPr wrap="square" lIns="146272" tIns="73135" rIns="146272" bIns="73135">
            <a:spAutoFit/>
          </a:bodyPr>
          <a:lstStyle/>
          <a:p>
            <a:pPr defTabSz="146240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TTC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与配置阈值，并结合中心通道、目标面积、静止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背景流筛选；可选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IPM 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距离参与校验。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安全距离阈值受参数与演示车速影响，不是实车标定值。</a:t>
            </a:r>
            <a:r>
              <a:rPr lang="en-US" altLang="zh-CN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35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告警加入连续帧确认以降低瞬时抖动。</a:t>
            </a:r>
            <a:endParaRPr lang="zh-CN" altLang="en-US" sz="135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8041510" y="3633458"/>
            <a:ext cx="2403416" cy="391795"/>
          </a:xfrm>
          <a:prstGeom prst="rect">
            <a:avLst/>
          </a:prstGeom>
        </p:spPr>
        <p:txBody>
          <a:bodyPr wrap="square" lIns="146272" tIns="73135" rIns="146272" bIns="73135">
            <a:spAutoFit/>
          </a:bodyPr>
          <a:lstStyle/>
          <a:p>
            <a:pPr algn="just" defTabSz="1462405" fontAlgn="base">
              <a:lnSpc>
                <a:spcPts val="192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/>
              <a:t>前向风险与告警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2088817" y="4010799"/>
            <a:ext cx="4220544" cy="261444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/>
          <p:cNvSpPr/>
          <p:nvPr/>
        </p:nvSpPr>
        <p:spPr>
          <a:xfrm flipH="1">
            <a:off x="2088817" y="4295575"/>
            <a:ext cx="4293828" cy="966470"/>
          </a:xfrm>
          <a:prstGeom prst="rect">
            <a:avLst/>
          </a:prstGeom>
          <a:effectLst/>
        </p:spPr>
        <p:txBody>
          <a:bodyPr wrap="square" lIns="146272" tIns="73135" rIns="146272" bIns="73135">
            <a:spAutoFit/>
          </a:bodyPr>
          <a:lstStyle/>
          <a:p>
            <a:pPr defTabSz="1462405" fontAlgn="base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像素底边点</a:t>
            </a:r>
            <a:r>
              <a:rPr lang="en-US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</a:t>
            </a:r>
            <a:r>
              <a:rPr lang="zh-CN" altLang="en-US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相机射线与地面平面求交</a:t>
            </a:r>
            <a:r>
              <a:rPr lang="en-US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→ (X,Y) </a:t>
            </a:r>
            <a:r>
              <a:rPr lang="zh-CN" altLang="en-US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地面坐标。</a:t>
            </a:r>
            <a:r>
              <a:rPr lang="en-US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依赖相机内外参与安装姿态，并假设地面近似平坦。</a:t>
            </a:r>
            <a:r>
              <a:rPr lang="en-US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BEV </a:t>
            </a:r>
            <a:r>
              <a:rPr lang="zh-CN" altLang="en-US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是辅助可视化，不是独立传感器测量。</a:t>
            </a:r>
            <a:r>
              <a:rPr lang="en-US" altLang="zh-CN" sz="140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[3]</a:t>
            </a:r>
            <a:endParaRPr lang="en-US" altLang="zh-CN" sz="140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91" grpId="0" bldLvl="0" animBg="1"/>
      <p:bldP spid="192" grpId="0"/>
      <p:bldP spid="196" grpId="0" bldLvl="0" animBg="1"/>
      <p:bldP spid="197" grpId="0"/>
      <p:bldP spid="201" grpId="0" bldLvl="0" animBg="1"/>
      <p:bldP spid="202" grpId="0"/>
      <p:bldP spid="2" grpId="0" bldLvl="0" animBg="1"/>
      <p:bldP spid="18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dirty="0">
                <a:solidFill>
                  <a:srgbClr val="325B7F"/>
                </a:solidFill>
                <a:latin typeface="迷你简菱心" panose="02010609000101010101" pitchFamily="49" charset="-122"/>
                <a:ea typeface="迷你简菱心" panose="02010609000101010101" pitchFamily="49" charset="-122"/>
                <a:sym typeface="微软雅黑" panose="020B0503020204020204" pitchFamily="34" charset="-122"/>
              </a:rPr>
              <a:t>研究依据与实现边界</a:t>
            </a:r>
            <a:endParaRPr lang="zh-CN" altLang="en-US" sz="2200" dirty="0">
              <a:solidFill>
                <a:srgbClr val="325B7F"/>
              </a:solidFill>
              <a:latin typeface="迷你简菱心" panose="02010609000101010101" pitchFamily="49" charset="-122"/>
              <a:ea typeface="迷你简菱心" panose="02010609000101010101" pitchFamily="49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/>
        </p:nvSpPr>
        <p:spPr>
          <a:xfrm>
            <a:off x="2286000" y="1041400"/>
            <a:ext cx="4699000" cy="24130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单目碰撞时间（</a:t>
            </a:r>
            <a:r>
              <a:rPr lang="en-US" altLang="zh-CN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TTC</a:t>
            </a:r>
            <a:r>
              <a:rPr lang="zh-CN" altLang="en-US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0" y="1600200"/>
            <a:ext cx="4343400" cy="13747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Kilicarslan, M. &amp; Zheng, J. Y. (2019). “Predict Vehicle Collision by TTC From Motion Using a Single Video Camera.” IEEE T-ITS, 20(2), 522–533. DOI: 10.1109/TITS.2018.2819827.</a:t>
            </a:r>
            <a:endParaRPr lang="en-US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关联：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TTC 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背景；本项目采用简化的宽度变化估计。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39000" y="1041400"/>
            <a:ext cx="4699000" cy="24130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多目标跟踪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6800" y="1600200"/>
            <a:ext cx="4343400" cy="13747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Zhang et al. (2022). “ByteTrack: Multi-Object Tracking by Associating Every Detection Box.” ECCV 2022. arXiv:2110.06864.</a:t>
            </a:r>
            <a:endParaRPr lang="en-US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关联：仅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SBS 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双目路径配置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ByteTrack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；单目路径使用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TWSManager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286000" y="3683000"/>
            <a:ext cx="4699000" cy="24130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63800" y="38354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逆透视与</a:t>
            </a:r>
            <a:r>
              <a:rPr lang="en-US" altLang="zh-CN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BEV</a:t>
            </a:r>
            <a:endParaRPr lang="en-US" altLang="zh-CN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63800" y="4241800"/>
            <a:ext cx="4343400" cy="13747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Bruls et al. (2018). “The Right (Angled) Perspective: Improving the Understanding of Road Scenes Using Boosted IPM.” arXiv:1812.00913.</a:t>
            </a:r>
            <a:endParaRPr lang="en-US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关联：背景参考；当前实现为针孔射线与地面平面的简化投影。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239000" y="3683000"/>
            <a:ext cx="4699000" cy="24130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16800" y="38354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模型与适用边界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16800" y="4241800"/>
            <a:ext cx="4343400" cy="13747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Ultralytics YOLO11 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官方文档：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https://docs.ultralytics.com/models/yolo11/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YOLO11 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无正式学术论文）。</a:t>
            </a:r>
            <a:endParaRPr lang="en-US" altLang="zh-CN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当前实现：</a:t>
            </a:r>
            <a:r>
              <a:rPr lang="en-US" altLang="zh-CN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YOLO11n / CPU</a:t>
            </a:r>
            <a:r>
              <a:rPr lang="zh-CN" altLang="en-US" sz="135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；视角默认固定前向；车速含模拟值。系统是算法原型，未作车规或道路安全认证。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3286" y="1996168"/>
            <a:ext cx="5932714" cy="2865664"/>
          </a:xfrm>
          <a:prstGeom prst="rect">
            <a:avLst/>
          </a:prstGeom>
          <a:solidFill>
            <a:srgbClr val="0E4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0652" y="2022122"/>
            <a:ext cx="5932714" cy="71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1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第六部分</a:t>
            </a:r>
            <a:r>
              <a:rPr lang="en-US" altLang="zh-CN" sz="31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3100" b="1" dirty="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性能测试与验证</a:t>
            </a:r>
            <a:endParaRPr lang="zh-CN" altLang="en-US" sz="3100" dirty="0">
              <a:solidFill>
                <a:srgbClr val="255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72310" y="1632729"/>
            <a:ext cx="3584652" cy="3592538"/>
            <a:chOff x="3437020" y="4201727"/>
            <a:chExt cx="863676" cy="865576"/>
          </a:xfrm>
        </p:grpSpPr>
        <p:sp>
          <p:nvSpPr>
            <p:cNvPr id="19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rgbClr val="0E4A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 dirty="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20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457200"/>
                <a:endParaRPr lang="zh-CN" altLang="en-US" sz="1865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7259">
        <p14:pan dir="u"/>
      </p:transition>
    </mc:Choice>
    <mc:Fallback>
      <p:transition spd="slow" advTm="7259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推理速度优化</a:t>
            </a:r>
            <a:endParaRPr lang="zh-CN" altLang="en-US" sz="22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2286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优化路径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63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基线：FP32 @ imgsz 640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输入尺寸 640 → 320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线程 8 物理核 + INT8 量化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5"/>
            </p:custDataLst>
          </p:nvPr>
        </p:nvSpPr>
        <p:spPr>
          <a:xfrm>
            <a:off x="7239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端到端结果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416800" y="1604645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13.96 → 29.89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已触顶视频源 30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单帧推理 84.8 → 19.4 ms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Picture 20" descr="fig_spe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519" y="3127248"/>
            <a:ext cx="9531025" cy="30358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31720" y="629107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数据来源：benchmark_results/fastguard_cpu_benchmark_20261004_*.json，OBS 640x480，每组 45 s</a:t>
            </a:r>
            <a:endParaRPr sz="9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INT8 量化精度验证</a:t>
            </a:r>
            <a:endParaRPr lang="zh-CN" altLang="en-US" sz="22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/>
        </p:nvSpPr>
        <p:spPr>
          <a:xfrm>
            <a:off x="2286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量化方式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OpenVINO 静态量化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NNCF 校准：实拍 200 帧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 5.6 MB → 3.2 MB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39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精度结论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6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mAP50-95 0.380 → 0.367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损失 3.4%，召回不降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INT8@512 精度与速度双优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Picture 20" descr="fig_qu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519" y="3127248"/>
            <a:ext cx="9531025" cy="30358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31720" y="629107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数据来源：COCO128（128 张 / 929 实例）与 benchmark_results/fastguard_quantization_validation_20261004_222000.json</a:t>
            </a:r>
            <a:endParaRPr sz="9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稳定性与打包验证</a:t>
            </a:r>
            <a:endParaRPr lang="zh-CN" altLang="en-US" sz="22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/>
        </p:nvSpPr>
        <p:spPr>
          <a:xfrm>
            <a:off x="2286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 分钟连续运行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26724 帧，平均 29.9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首末 −1.6%，无热节流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 +25.3 MB 且收敛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39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打包 exe 验证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6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dist 915 MB，含 INT8 模型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bundle 内 OpenVINO 完整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应用日志自证 INT8 已加载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" name="Picture 20" descr="fig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519" y="3127248"/>
            <a:ext cx="9531025" cy="30358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31720" y="629107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数据来源：benchmark_results/fastguard_cpu_benchmark_20261004_225634.json（INT8@320，900 s / 26724 帧）</a:t>
            </a:r>
            <a:endParaRPr sz="9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遇到的问题及修复</a:t>
            </a:r>
            <a:endParaRPr lang="zh-CN" altLang="en-US" sz="22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/>
        </p:nvSpPr>
        <p:spPr>
          <a:xfrm>
            <a:off x="2286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相机帧序号恒为 0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3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POS_FRAMES 返回 −1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每帧 2 次推理（16 FPS）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修复后 15.5 → 20.8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239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SDT 单位混用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6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像素/秒 与 米/秒 相减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风险时间虚高数百米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改用 IPM 米制接近速度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286000" y="36830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63800" y="38354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静止目标与 IPM 符号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63800" y="42418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静止目标被硬触发误报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IPM 纵向轴符号错误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加非静止条件 + 修正符号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239000" y="36830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16800" y="38354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打包与测量工具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16800" y="42418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打包缺 OpenVINO → 回退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基准工具污染内存曲线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补齐依赖 + 加回归测试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30"/>
          <p:cNvSpPr>
            <a:spLocks noChangeArrowheads="1"/>
          </p:cNvSpPr>
          <p:nvPr/>
        </p:nvSpPr>
        <p:spPr bwMode="auto">
          <a:xfrm>
            <a:off x="2719844" y="336525"/>
            <a:ext cx="4065203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defTabSz="457200"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rgbClr val="325B7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项目界面实测</a:t>
            </a:r>
            <a:endParaRPr lang="zh-CN" altLang="en-US" sz="2200" dirty="0">
              <a:solidFill>
                <a:srgbClr val="325B7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6759" y="360720"/>
            <a:ext cx="467216" cy="468245"/>
            <a:chOff x="3437020" y="2074814"/>
            <a:chExt cx="863676" cy="865577"/>
          </a:xfrm>
        </p:grpSpPr>
        <p:sp>
          <p:nvSpPr>
            <p:cNvPr id="19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rgbClr val="255580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defTabSz="457200">
                <a:spcBef>
                  <a:spcPct val="0"/>
                </a:spcBef>
                <a:buNone/>
              </a:pPr>
              <a:endParaRPr lang="zh-CN" altLang="zh-CN" sz="24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2286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63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实测环境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63800" y="1600200"/>
            <a:ext cx="4343400" cy="132080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i7-11800H，8 物理核 CPU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OBS 摄像头 640x480 @30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产物 dist\FastGuard 目录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5"/>
            </p:custDataLst>
          </p:nvPr>
        </p:nvSpPr>
        <p:spPr>
          <a:xfrm>
            <a:off x="7239000" y="1041400"/>
            <a:ext cx="4699000" cy="1955800"/>
          </a:xfrm>
          <a:prstGeom prst="roundRect">
            <a:avLst/>
          </a:prstGeom>
          <a:solidFill>
            <a:srgbClr val="F2F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416800" y="1193800"/>
            <a:ext cx="434340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2052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实测结果</a:t>
            </a:r>
            <a:endParaRPr lang="zh-CN" altLang="en-US" sz="1600" b="1" dirty="0" smtClean="0">
              <a:solidFill>
                <a:srgbClr val="2052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416800" y="1600200"/>
            <a:ext cx="4343400" cy="122555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应用帧率 20.8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修复前为 15.5 FPS</a:t>
            </a:r>
            <a:endParaRPr lang="zh-CN" altLang="en-US" sz="135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 smtClean="0">
                <a:solidFill>
                  <a:srgbClr val="2630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账户登录功能正常</a:t>
            </a:r>
            <a:endParaRPr lang="zh-CN" altLang="en-US" sz="2000" dirty="0" smtClean="0">
              <a:solidFill>
                <a:srgbClr val="2630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286000" y="3127248"/>
            <a:ext cx="5056632" cy="303580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8C9A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/>
            <a:r>
              <a:rPr sz="1400" b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主界面截图（待插入）</a:t>
            </a:r>
            <a:endParaRPr sz="1400" b="1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</a:p>
          <a:p>
            <a:pPr algn="ctr"/>
            <a:r>
              <a:rPr sz="10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最大化运行 dist\FastGuard\FastGuard.exe，开启 OBS 虚拟摄像头后截图。</a:t>
            </a:r>
            <a:endParaRPr sz="10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0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需可见：左侧导航、原始画面实时视频、右侧指标卡（帧率/目标数）、底部模型名。</a:t>
            </a:r>
            <a:endParaRPr sz="10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0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占位框 5.53 × 3.32 英寸（宽高比 ≈ 1.65）：粘贴后按角落手柄等比缩放。</a:t>
            </a:r>
            <a:endParaRPr sz="1050" b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629107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截图来源：打包产物 dist\FastGuard\FastGuard.exe 实机运行（登录使用管理员账号 admin / Admin123）</a:t>
            </a:r>
            <a:endParaRPr sz="9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3066415"/>
            <a:ext cx="5055870" cy="31597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1845" y="3117850"/>
            <a:ext cx="2743835" cy="305181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61419">
        <p14:pan dir="u"/>
      </p:transition>
    </mc:Choice>
    <mc:Fallback>
      <p:transition spd="slow" advTm="61419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7d195523061f1c0e9b3ffe7e44df0ff734887e5df9cafe85410467C7D4BF498388736C4A47BDD8DF8E410732F89EB20E3DD26C0AE63ED6FC8FD81476FCC37DE72C787945F58CBA99AD5DEF472EB0F4004B9DEB06EDEFF0457AAB0D7D50FDB571AB48D00B5E53013B217544737FF837E801B842BD4108D639F076B8BBFF9559AFE01B1AFFDD0482057A1D2D39CF774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4713" y="725467"/>
            <a:ext cx="3562573" cy="782531"/>
          </a:xfrm>
          <a:prstGeom prst="rect">
            <a:avLst/>
          </a:prstGeom>
        </p:spPr>
      </p:pic>
      <p:sp>
        <p:nvSpPr>
          <p:cNvPr id="3" name="PA_文本框 24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2"/>
            </p:custDataLst>
          </p:nvPr>
        </p:nvSpPr>
        <p:spPr>
          <a:xfrm>
            <a:off x="447115" y="1905000"/>
            <a:ext cx="11827994" cy="95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5400">
                <a:solidFill>
                  <a:srgbClr val="2555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25B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总结：从视频感知到风险提示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325B7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/>
          <p:nvPr/>
        </p:nvSpPr>
        <p:spPr>
          <a:xfrm>
            <a:off x="3060890" y="4635500"/>
            <a:ext cx="607021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谢谢！欢迎提问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PA_文本框 29" descr="e7d195523061f1c07f83f732a5522b9b3ebe164d7250580aEF66DE1A1ABCD1416532D3433F8BE1C4DD26AF8C595CA3B8FBFFDC471B28313D41FC0B29AEB12651AEAC05881CD0265D4CB30185DEC2EB287A3DCBE2E99F13933C1E803DDF331C0150FEA0675F290631D1EDC3C927CD0AA74DD8F417A5B73495B4C9A5AA47CFEB588A1D25B820586C98"/>
          <p:cNvSpPr txBox="1"/>
          <p:nvPr>
            <p:custDataLst>
              <p:tags r:id="rId3"/>
            </p:custDataLst>
          </p:nvPr>
        </p:nvSpPr>
        <p:spPr>
          <a:xfrm>
            <a:off x="4302739" y="5283200"/>
            <a:ext cx="3586519" cy="698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68500" y="3276600"/>
            <a:ext cx="8255000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p>
            <a:pPr algn="ctr">
              <a:lnSpc>
                <a:spcPct val="130000"/>
              </a:lnSpc>
            </a:pP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TTC </a:t>
            </a: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｜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侧向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BSD / TTL</a:t>
            </a:r>
            <a:endParaRPr lang="en-US" altLang="zh-CN" sz="1600" dirty="0" smtClean="0">
              <a:solidFill>
                <a:srgbClr val="3643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视频分析原型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默认前向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未经车规</a:t>
            </a:r>
            <a:r>
              <a:rPr lang="en-US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道路安全认证</a:t>
            </a:r>
            <a:endParaRPr lang="zh-CN" altLang="en-US" sz="1600" dirty="0" smtClean="0">
              <a:solidFill>
                <a:srgbClr val="3643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zh-CN" sz="1600" dirty="0" smtClean="0">
                <a:solidFill>
                  <a:srgbClr val="364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 实测：INT8@320 端到端 29.9 FPS ｜ 量化精度损失 3.4% ｜ 安全关键类别召回不降</a:t>
            </a:r>
            <a:endParaRPr lang="zh-CN" altLang="en-US" sz="1600" dirty="0" smtClean="0">
              <a:solidFill>
                <a:srgbClr val="3643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2827">
        <p14:pan dir="u"/>
      </p:transition>
    </mc:Choice>
    <mc:Fallback>
      <p:transition spd="slow" advTm="2827">
        <p:fade/>
      </p:transition>
    </mc:Fallback>
  </mc:AlternateContent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TIMING" val="|0|17.9|22.1"/>
</p:tagLst>
</file>

<file path=ppt/tags/tag4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5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6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7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8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9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10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11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12.xml><?xml version="1.0" encoding="utf-8"?>
<p:tagLst xmlns:p="http://schemas.openxmlformats.org/presentationml/2006/main">
  <p:tag name="KSO_WM_DIAGRAM_VIRTUALLY_FRAME" val="{&quot;height&quot;:526.454409448819,&quot;left&quot;:182.90992125984252,&quot;top&quot;:110.21897637795276,&quot;width&quot;:738.0708661417324}"/>
</p:tagLst>
</file>

<file path=ppt/tags/tag13.xml><?xml version="1.0" encoding="utf-8"?>
<p:tagLst xmlns:p="http://schemas.openxmlformats.org/presentationml/2006/main">
  <p:tag name="TIMING" val="|2|15.8|14.7"/>
</p:tagLst>
</file>

<file path=ppt/tags/tag14.xml><?xml version="1.0" encoding="utf-8"?>
<p:tagLst xmlns:p="http://schemas.openxmlformats.org/presentationml/2006/main">
  <p:tag name="KSO_WM_DIAGRAM_VIRTUALLY_FRAME" val="{&quot;height&quot;:401.4492125984251,&quot;left&quot;:534.2556692913386,&quot;top&quot;:90.44992125984251,&quot;width&quot;:483.73102362204736}"/>
</p:tagLst>
</file>

<file path=ppt/tags/tag15.xml><?xml version="1.0" encoding="utf-8"?>
<p:tagLst xmlns:p="http://schemas.openxmlformats.org/presentationml/2006/main">
  <p:tag name="TIMING" val="|4.1|14.9|55.7"/>
</p:tagLst>
</file>

<file path=ppt/tags/tag16.xml><?xml version="1.0" encoding="utf-8"?>
<p:tagLst xmlns:p="http://schemas.openxmlformats.org/presentationml/2006/main">
  <p:tag name="TIMING" val="|0.5|0.5|0.7"/>
</p:tagLst>
</file>

<file path=ppt/tags/tag17.xml><?xml version="1.0" encoding="utf-8"?>
<p:tagLst xmlns:p="http://schemas.openxmlformats.org/presentationml/2006/main">
  <p:tag name="TIMING" val="|6.3|10.4|11.4|17.5"/>
</p:tagLst>
</file>

<file path=ppt/tags/tag18.xml><?xml version="1.0" encoding="utf-8"?>
<p:tagLst xmlns:p="http://schemas.openxmlformats.org/presentationml/2006/main">
  <p:tag name="TIMING" val="|6.3|10.4|11.4|17.5"/>
</p:tagLst>
</file>

<file path=ppt/tags/tag19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0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1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2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3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4.xml><?xml version="1.0" encoding="utf-8"?>
<p:tagLst xmlns:p="http://schemas.openxmlformats.org/presentationml/2006/main">
  <p:tag name="KSO_WM_DIAGRAM_VIRTUALLY_FRAME" val="{&quot;height&quot;:154,&quot;left&quot;:180,&quot;top&quot;:82,&quot;width&quot;:760}"/>
</p:tagLst>
</file>

<file path=ppt/tags/tag25.xml><?xml version="1.0" encoding="utf-8"?>
<p:tagLst xmlns:p="http://schemas.openxmlformats.org/presentationml/2006/main">
  <p:tag name="TIMING" val="|6.3|10.4|11.4|17.5"/>
</p:tagLst>
</file>

<file path=ppt/tags/tag26.xml><?xml version="1.0" encoding="utf-8"?>
<p:tagLst xmlns:p="http://schemas.openxmlformats.org/presentationml/2006/main">
  <p:tag name="TIMING" val="|6.3|10.4|11.4|17.5"/>
</p:tagLst>
</file>

<file path=ppt/tags/tag27.xml><?xml version="1.0" encoding="utf-8"?>
<p:tagLst xmlns:p="http://schemas.openxmlformats.org/presentationml/2006/main">
  <p:tag name="TIMING" val="|6.3|10.4|11.4|17.5"/>
</p:tagLst>
</file>

<file path=ppt/tags/tag28.xml><?xml version="1.0" encoding="utf-8"?>
<p:tagLst xmlns:p="http://schemas.openxmlformats.org/presentationml/2006/main">
  <p:tag name="TIMING" val="|6.3|10.4|11.4|17.5"/>
</p:tagLst>
</file>

<file path=ppt/tags/tag29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0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1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2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3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4.xml><?xml version="1.0" encoding="utf-8"?>
<p:tagLst xmlns:p="http://schemas.openxmlformats.org/presentationml/2006/main">
  <p:tag name="KSO_WM_DIAGRAM_VIRTUALLY_FRAME" val="{&quot;height&quot;:172,&quot;left&quot;:180,&quot;top&quot;:82,&quot;width&quot;:760}"/>
</p:tagLst>
</file>

<file path=ppt/tags/tag35.xml><?xml version="1.0" encoding="utf-8"?>
<p:tagLst xmlns:p="http://schemas.openxmlformats.org/presentationml/2006/main">
  <p:tag name="TIMING" val="|6.3|10.4|11.4|17.5"/>
</p:tagLst>
</file>

<file path=ppt/tags/tag36.xml><?xml version="1.0" encoding="utf-8"?>
<p:tagLst xmlns:p="http://schemas.openxmlformats.org/presentationml/2006/main">
  <p:tag name="PA" val="v3.2.0"/>
</p:tagLst>
</file>

<file path=ppt/tags/tag37.xml><?xml version="1.0" encoding="utf-8"?>
<p:tagLst xmlns:p="http://schemas.openxmlformats.org/presentationml/2006/main">
  <p:tag name="PA" val="v3.2.0"/>
</p:tagLst>
</file>

<file path=ppt/tags/tag38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3694</Words>
  <Application>WPS 演示</Application>
  <PresentationFormat>宽屏</PresentationFormat>
  <Paragraphs>285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</vt:lpstr>
      <vt:lpstr>Arial Black</vt:lpstr>
      <vt:lpstr>Wingdings 2</vt:lpstr>
      <vt:lpstr>幼圆</vt:lpstr>
      <vt:lpstr>Calibri</vt:lpstr>
      <vt:lpstr>Calibri</vt:lpstr>
      <vt:lpstr>Arial Unicode MS</vt:lpstr>
      <vt:lpstr>等线</vt:lpstr>
      <vt:lpstr>微软雅黑</vt:lpstr>
      <vt:lpstr>Wingdings</vt:lpstr>
      <vt:lpstr>迷你简菱心</vt:lpstr>
      <vt:lpstr>迷你简菱心</vt:lpstr>
      <vt:lpstr>迷你可爱圆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小江</cp:lastModifiedBy>
  <cp:revision>149</cp:revision>
  <dcterms:created xsi:type="dcterms:W3CDTF">2018-10-08T13:07:00Z</dcterms:created>
  <dcterms:modified xsi:type="dcterms:W3CDTF">2026-10-05T07:39:33Z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411BFC7856D647FDB7ACC015EF5E0661_13</vt:lpwstr>
  </property>
</Properties>
</file>